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87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6944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D1333"/>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lIns="0" tIns="0" rIns="0" bIns="0" rtlCol="0" anchor="ctr"/>
          <a:lstStyle/>
          <a:p>
            <a:pPr marL="0" indent="0">
              <a:buNone/>
            </a:pPr>
            <a:r>
              <a:rPr lang="en-US" sz="1000" b="1" kern="0" spc="200" dirty="0">
                <a:solidFill>
                  <a:srgbClr val="CADCFC"/>
                </a:solidFill>
                <a:latin typeface="Calibri" pitchFamily="34" charset="0"/>
                <a:ea typeface="Calibri" pitchFamily="34" charset="-122"/>
                <a:cs typeface="Calibri" pitchFamily="34" charset="-120"/>
              </a:rPr>
              <a:t>CONFIDENCIAL — REPORTE TÉCNICO RED TEAM</a:t>
            </a:r>
            <a:endParaRPr lang="en-US" sz="1000" dirty="0"/>
          </a:p>
        </p:txBody>
      </p:sp>
      <p:sp>
        <p:nvSpPr>
          <p:cNvPr id="3" name="Text 1"/>
          <p:cNvSpPr/>
          <p:nvPr/>
        </p:nvSpPr>
        <p:spPr>
          <a:xfrm>
            <a:off x="548640" y="6355080"/>
            <a:ext cx="7315200" cy="274320"/>
          </a:xfrm>
          <a:prstGeom prst="rect">
            <a:avLst/>
          </a:prstGeom>
          <a:noFill/>
          <a:ln/>
        </p:spPr>
        <p:txBody>
          <a:bodyPr wrap="square" lIns="0" tIns="0" rIns="0" bIns="0" rtlCol="0" anchor="ctr"/>
          <a:lstStyle/>
          <a:p>
            <a:pPr marL="0" indent="0">
              <a:buNone/>
            </a:pPr>
            <a:r>
              <a:rPr lang="en-US" sz="900" dirty="0">
                <a:solidFill>
                  <a:srgbClr val="8A9BC4"/>
                </a:solidFill>
                <a:latin typeface="Calibri" pitchFamily="34" charset="0"/>
                <a:ea typeface="Calibri" pitchFamily="34" charset="-122"/>
                <a:cs typeface="Calibri" pitchFamily="34" charset="-120"/>
              </a:rPr>
              <a:t>UPSLP · Ingeniería en Tecnologías de la Información</a:t>
            </a:r>
            <a:endParaRPr lang="en-US" sz="9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BC4"/>
                </a:solidFill>
                <a:latin typeface="Calibri"/>
                <a:ea typeface="Calibri"/>
                <a:cs typeface="Calibri"/>
              </a:defRPr>
            </a:lvl1pPr>
          </a:lstStyle>
          <a:p>
            <a:pPr algn="l"/>
            <a:fld id="{F7021451-1387-4CA6-816F-3879F97B5CBC}" type="slidenum">
              <a:rPr lang="en-US" b="0"/>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64240" cy="731520"/>
          </a:xfrm>
          <a:prstGeom prst="rect">
            <a:avLst/>
          </a:prstGeom>
          <a:noFill/>
          <a:ln/>
        </p:spPr>
        <p:txBody>
          <a:bodyPr wrap="square" rtlCol="0"/>
          <a:lstStyle>
            <a:lvl1pPr marL="0" indent="0" algn="l">
              <a:buNone/>
              <a:defRPr lang="en-US" sz="3000" b="1" dirty="0">
                <a:solidFill>
                  <a:srgbClr val="1E2761"/>
                </a:solidFill>
                <a:latin typeface="Cambria" pitchFamily="34" charset="0"/>
                <a:ea typeface="Cambria" pitchFamily="34" charset="-122"/>
                <a:cs typeface="Cambria" pitchFamily="34" charset="-120"/>
              </a:defRPr>
            </a:lvl1pPr>
          </a:lstStyle>
          <a:p>
            <a:pPr marL="0" indent="0" algn="l">
              <a:buNone/>
            </a:pPr>
            <a:r>
              <a:rPr lang="en-US" sz="3000" b="1" dirty="0">
                <a:solidFill>
                  <a:srgbClr val="1E2761"/>
                </a:solidFill>
                <a:latin typeface="Cambria" pitchFamily="34" charset="0"/>
                <a:ea typeface="Cambria" pitchFamily="34" charset="-122"/>
                <a:cs typeface="Cambria" pitchFamily="34" charset="-120"/>
              </a:rPr>
              <a:t>Título de la diapositiva</a:t>
            </a:r>
            <a:endParaRPr lang="en-US" sz="3000" dirty="0"/>
          </a:p>
        </p:txBody>
      </p:sp>
      <p:sp>
        <p:nvSpPr>
          <p:cNvPr id="3" name="Text 0"/>
          <p:cNvSpPr/>
          <p:nvPr/>
        </p:nvSpPr>
        <p:spPr>
          <a:xfrm>
            <a:off x="548640" y="6446520"/>
            <a:ext cx="6400800" cy="274320"/>
          </a:xfrm>
          <a:prstGeom prst="rect">
            <a:avLst/>
          </a:prstGeom>
          <a:noFill/>
          <a:ln/>
        </p:spPr>
        <p:txBody>
          <a:bodyPr wrap="square" lIns="0" tIns="0" rIns="0" bIns="0" rtlCol="0" anchor="ctr"/>
          <a:lstStyle/>
          <a:p>
            <a:pPr marL="0" indent="0">
              <a:buNone/>
            </a:pPr>
            <a:r>
              <a:rPr lang="en-US" sz="900" dirty="0">
                <a:solidFill>
                  <a:srgbClr val="8A9BC4"/>
                </a:solidFill>
                <a:latin typeface="Calibri" pitchFamily="34" charset="0"/>
                <a:ea typeface="Calibri" pitchFamily="34" charset="-122"/>
                <a:cs typeface="Calibri" pitchFamily="34" charset="-120"/>
              </a:rPr>
              <a:t>Red Team Report · My File Server 1</a:t>
            </a:r>
            <a:endParaRPr lang="en-US" sz="900" dirty="0"/>
          </a:p>
        </p:txBody>
      </p:sp>
      <p:sp>
        <p:nvSpPr>
          <p:cNvPr id="25" name="Slide Number Placeholder 0"/>
          <p:cNvSpPr>
            <a:spLocks noGrp="1"/>
          </p:cNvSpPr>
          <p:nvPr>
            <p:ph type="sldNum" sz="quarter" idx="4294967295"/>
          </p:nvPr>
        </p:nvSpPr>
        <p:spPr>
          <a:xfrm>
            <a:off x="1152144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BC4"/>
                </a:solidFill>
                <a:latin typeface="Calibri"/>
                <a:ea typeface="Calibri"/>
                <a:cs typeface="Calibri"/>
              </a:defRPr>
            </a:lvl1pPr>
          </a:lstStyle>
          <a:p>
            <a:pPr algn="l"/>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BC4"/>
                </a:solidFill>
                <a:latin typeface="Calibri"/>
                <a:ea typeface="Calibri"/>
                <a:cs typeface="Calibri"/>
              </a:defRPr>
            </a:lvl1pPr>
          </a:lstStyle>
          <a:p>
            <a:pPr algn="l"/>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22960" y="1828800"/>
            <a:ext cx="7315200" cy="365760"/>
          </a:xfrm>
          <a:prstGeom prst="rect">
            <a:avLst/>
          </a:prstGeom>
          <a:noFill/>
          <a:ln/>
        </p:spPr>
        <p:txBody>
          <a:bodyPr wrap="square" lIns="0" tIns="0" rIns="0" bIns="0" rtlCol="0" anchor="ctr"/>
          <a:lstStyle/>
          <a:p>
            <a:pPr marL="0" indent="0">
              <a:buNone/>
            </a:pPr>
            <a:r>
              <a:rPr lang="en-US" sz="1400" b="1" kern="0" spc="200" dirty="0">
                <a:solidFill>
                  <a:srgbClr val="CADCFC"/>
                </a:solidFill>
                <a:latin typeface="Calibri" pitchFamily="34" charset="0"/>
                <a:ea typeface="Calibri" pitchFamily="34" charset="-122"/>
                <a:cs typeface="Calibri" pitchFamily="34" charset="-120"/>
              </a:rPr>
              <a:t>ACTIVIDAD 13</a:t>
            </a:r>
            <a:endParaRPr lang="en-US" sz="1400" dirty="0"/>
          </a:p>
        </p:txBody>
      </p:sp>
      <p:sp>
        <p:nvSpPr>
          <p:cNvPr id="3" name="Text 1"/>
          <p:cNvSpPr/>
          <p:nvPr/>
        </p:nvSpPr>
        <p:spPr>
          <a:xfrm>
            <a:off x="822960" y="2240280"/>
            <a:ext cx="10058400" cy="1737360"/>
          </a:xfrm>
          <a:prstGeom prst="rect">
            <a:avLst/>
          </a:prstGeom>
          <a:noFill/>
          <a:ln/>
        </p:spPr>
        <p:txBody>
          <a:bodyPr wrap="square" lIns="0" tIns="0" rIns="0" bIns="0" rtlCol="0" anchor="ctr"/>
          <a:lstStyle/>
          <a:p>
            <a:pPr marL="0" indent="0">
              <a:lnSpc>
                <a:spcPct val="110000"/>
              </a:lnSpc>
              <a:buNone/>
            </a:pPr>
            <a:r>
              <a:rPr lang="en-US" sz="4000" b="1" dirty="0">
                <a:solidFill>
                  <a:srgbClr val="FFFFFF"/>
                </a:solidFill>
                <a:latin typeface="Cambria" pitchFamily="34" charset="0"/>
                <a:ea typeface="Cambria" pitchFamily="34" charset="-122"/>
                <a:cs typeface="Cambria" pitchFamily="34" charset="-120"/>
              </a:rPr>
              <a:t>Red Team Report:</a:t>
            </a:r>
            <a:endParaRPr lang="en-US" sz="4000" dirty="0"/>
          </a:p>
          <a:p>
            <a:pPr marL="0" indent="0">
              <a:lnSpc>
                <a:spcPct val="110000"/>
              </a:lnSpc>
              <a:buNone/>
            </a:pPr>
            <a:r>
              <a:rPr lang="en-US" sz="4000" b="1" dirty="0">
                <a:solidFill>
                  <a:srgbClr val="FFFFFF"/>
                </a:solidFill>
                <a:latin typeface="Cambria" pitchFamily="34" charset="0"/>
                <a:ea typeface="Cambria" pitchFamily="34" charset="-122"/>
                <a:cs typeface="Cambria" pitchFamily="34" charset="-120"/>
              </a:rPr>
              <a:t>Pentesting de My File Server 1</a:t>
            </a:r>
            <a:endParaRPr lang="en-US" sz="4000" dirty="0"/>
          </a:p>
        </p:txBody>
      </p:sp>
      <p:sp>
        <p:nvSpPr>
          <p:cNvPr id="4" name="Shape 2"/>
          <p:cNvSpPr/>
          <p:nvPr/>
        </p:nvSpPr>
        <p:spPr>
          <a:xfrm>
            <a:off x="822960" y="4114800"/>
            <a:ext cx="2834640" cy="457200"/>
          </a:xfrm>
          <a:prstGeom prst="rect">
            <a:avLst/>
          </a:prstGeom>
          <a:solidFill>
            <a:srgbClr val="C1272D"/>
          </a:solidFill>
          <a:ln/>
        </p:spPr>
        <p:txBody>
          <a:bodyPr/>
          <a:lstStyle/>
          <a:p>
            <a:endParaRPr lang="es-MX"/>
          </a:p>
        </p:txBody>
      </p:sp>
      <p:sp>
        <p:nvSpPr>
          <p:cNvPr id="5" name="Text 3"/>
          <p:cNvSpPr/>
          <p:nvPr/>
        </p:nvSpPr>
        <p:spPr>
          <a:xfrm>
            <a:off x="822960" y="4114800"/>
            <a:ext cx="28346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RIESGO GENERAL: CRÍTICO</a:t>
            </a:r>
            <a:endParaRPr lang="en-US" sz="1300" dirty="0"/>
          </a:p>
        </p:txBody>
      </p:sp>
      <p:sp>
        <p:nvSpPr>
          <p:cNvPr id="6" name="Text 4"/>
          <p:cNvSpPr/>
          <p:nvPr/>
        </p:nvSpPr>
        <p:spPr>
          <a:xfrm>
            <a:off x="822960" y="4892040"/>
            <a:ext cx="2377440" cy="274320"/>
          </a:xfrm>
          <a:prstGeom prst="rect">
            <a:avLst/>
          </a:prstGeom>
          <a:noFill/>
          <a:ln/>
        </p:spPr>
        <p:txBody>
          <a:bodyPr wrap="square" lIns="0" tIns="0" rIns="0" bIns="0" rtlCol="0" anchor="ctr"/>
          <a:lstStyle/>
          <a:p>
            <a:pPr marL="0" indent="0">
              <a:buNone/>
            </a:pPr>
            <a:r>
              <a:rPr lang="en-US" sz="900" b="1" kern="0" spc="100" dirty="0">
                <a:solidFill>
                  <a:srgbClr val="8A9BC4"/>
                </a:solidFill>
                <a:latin typeface="Calibri" pitchFamily="34" charset="0"/>
                <a:ea typeface="Calibri" pitchFamily="34" charset="-122"/>
                <a:cs typeface="Calibri" pitchFamily="34" charset="-120"/>
              </a:rPr>
              <a:t>AUDITOR</a:t>
            </a:r>
            <a:endParaRPr lang="en-US" sz="900" dirty="0"/>
          </a:p>
        </p:txBody>
      </p:sp>
      <p:sp>
        <p:nvSpPr>
          <p:cNvPr id="7" name="Text 5"/>
          <p:cNvSpPr/>
          <p:nvPr/>
        </p:nvSpPr>
        <p:spPr>
          <a:xfrm>
            <a:off x="3200400" y="4892040"/>
            <a:ext cx="8138160" cy="2743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Manuel Eduardo Hernández Gaytán — Matrícula 181850</a:t>
            </a:r>
            <a:endParaRPr lang="en-US" sz="1100" dirty="0"/>
          </a:p>
        </p:txBody>
      </p:sp>
      <p:sp>
        <p:nvSpPr>
          <p:cNvPr id="8" name="Text 6"/>
          <p:cNvSpPr/>
          <p:nvPr/>
        </p:nvSpPr>
        <p:spPr>
          <a:xfrm>
            <a:off x="822960" y="5193792"/>
            <a:ext cx="2377440" cy="274320"/>
          </a:xfrm>
          <a:prstGeom prst="rect">
            <a:avLst/>
          </a:prstGeom>
          <a:noFill/>
          <a:ln/>
        </p:spPr>
        <p:txBody>
          <a:bodyPr wrap="square" lIns="0" tIns="0" rIns="0" bIns="0" rtlCol="0" anchor="ctr"/>
          <a:lstStyle/>
          <a:p>
            <a:pPr marL="0" indent="0">
              <a:buNone/>
            </a:pPr>
            <a:r>
              <a:rPr lang="en-US" sz="900" b="1" kern="0" spc="100" dirty="0">
                <a:solidFill>
                  <a:srgbClr val="8A9BC4"/>
                </a:solidFill>
                <a:latin typeface="Calibri" pitchFamily="34" charset="0"/>
                <a:ea typeface="Calibri" pitchFamily="34" charset="-122"/>
                <a:cs typeface="Calibri" pitchFamily="34" charset="-120"/>
              </a:rPr>
              <a:t>ROL ASUMIDO</a:t>
            </a:r>
            <a:endParaRPr lang="en-US" sz="900" dirty="0"/>
          </a:p>
        </p:txBody>
      </p:sp>
      <p:sp>
        <p:nvSpPr>
          <p:cNvPr id="9" name="Text 7"/>
          <p:cNvSpPr/>
          <p:nvPr/>
        </p:nvSpPr>
        <p:spPr>
          <a:xfrm>
            <a:off x="3200400" y="5193792"/>
            <a:ext cx="8138160" cy="2743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Analista Red Team (consultor externo contratado)</a:t>
            </a:r>
            <a:endParaRPr lang="en-US" sz="1100" dirty="0"/>
          </a:p>
        </p:txBody>
      </p:sp>
      <p:sp>
        <p:nvSpPr>
          <p:cNvPr id="10" name="Text 8"/>
          <p:cNvSpPr/>
          <p:nvPr/>
        </p:nvSpPr>
        <p:spPr>
          <a:xfrm>
            <a:off x="822960" y="5495544"/>
            <a:ext cx="2377440" cy="274320"/>
          </a:xfrm>
          <a:prstGeom prst="rect">
            <a:avLst/>
          </a:prstGeom>
          <a:noFill/>
          <a:ln/>
        </p:spPr>
        <p:txBody>
          <a:bodyPr wrap="square" lIns="0" tIns="0" rIns="0" bIns="0" rtlCol="0" anchor="ctr"/>
          <a:lstStyle/>
          <a:p>
            <a:pPr marL="0" indent="0">
              <a:buNone/>
            </a:pPr>
            <a:r>
              <a:rPr lang="en-US" sz="900" b="1" kern="0" spc="100" dirty="0">
                <a:solidFill>
                  <a:srgbClr val="8A9BC4"/>
                </a:solidFill>
                <a:latin typeface="Calibri" pitchFamily="34" charset="0"/>
                <a:ea typeface="Calibri" pitchFamily="34" charset="-122"/>
                <a:cs typeface="Calibri" pitchFamily="34" charset="-120"/>
              </a:rPr>
              <a:t>FECHA DEL ENGAGEMENT</a:t>
            </a:r>
            <a:endParaRPr lang="en-US" sz="900" dirty="0"/>
          </a:p>
        </p:txBody>
      </p:sp>
      <p:sp>
        <p:nvSpPr>
          <p:cNvPr id="11" name="Text 9"/>
          <p:cNvSpPr/>
          <p:nvPr/>
        </p:nvSpPr>
        <p:spPr>
          <a:xfrm>
            <a:off x="3200400" y="5495544"/>
            <a:ext cx="8138160" cy="2743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01 de octubre de 2026</a:t>
            </a:r>
            <a:endParaRPr lang="en-US" sz="1100" dirty="0"/>
          </a:p>
        </p:txBody>
      </p:sp>
      <p:sp>
        <p:nvSpPr>
          <p:cNvPr id="12" name="Text 10"/>
          <p:cNvSpPr/>
          <p:nvPr/>
        </p:nvSpPr>
        <p:spPr>
          <a:xfrm>
            <a:off x="822960" y="5797296"/>
            <a:ext cx="2377440" cy="274320"/>
          </a:xfrm>
          <a:prstGeom prst="rect">
            <a:avLst/>
          </a:prstGeom>
          <a:noFill/>
          <a:ln/>
        </p:spPr>
        <p:txBody>
          <a:bodyPr wrap="square" lIns="0" tIns="0" rIns="0" bIns="0" rtlCol="0" anchor="ctr"/>
          <a:lstStyle/>
          <a:p>
            <a:pPr marL="0" indent="0">
              <a:buNone/>
            </a:pPr>
            <a:r>
              <a:rPr lang="en-US" sz="900" b="1" kern="0" spc="100" dirty="0">
                <a:solidFill>
                  <a:srgbClr val="8A9BC4"/>
                </a:solidFill>
                <a:latin typeface="Calibri" pitchFamily="34" charset="0"/>
                <a:ea typeface="Calibri" pitchFamily="34" charset="-122"/>
                <a:cs typeface="Calibri" pitchFamily="34" charset="-120"/>
              </a:rPr>
              <a:t>ASIGNATURA</a:t>
            </a:r>
            <a:endParaRPr lang="en-US" sz="900" dirty="0"/>
          </a:p>
        </p:txBody>
      </p:sp>
      <p:sp>
        <p:nvSpPr>
          <p:cNvPr id="13" name="Text 11"/>
          <p:cNvSpPr/>
          <p:nvPr/>
        </p:nvSpPr>
        <p:spPr>
          <a:xfrm>
            <a:off x="3200400" y="5797296"/>
            <a:ext cx="8138160" cy="2743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Fundamentos de Ciberseguridad — Mtro. Servando López Contreras</a:t>
            </a:r>
            <a:endParaRPr lang="en-US" sz="11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BC4"/>
                </a:solidFill>
                <a:latin typeface="Calibri"/>
                <a:ea typeface="Calibri"/>
                <a:cs typeface="Calibri"/>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64240" cy="731520"/>
          </a:xfrm>
          <a:prstGeom prst="rect">
            <a:avLst/>
          </a:prstGeom>
          <a:noFill/>
          <a:ln/>
        </p:spPr>
        <p:txBody>
          <a:bodyPr wrap="square" lIns="0" tIns="0" rIns="0" bIns="0" rtlCol="0"/>
          <a:lstStyle/>
          <a:p>
            <a:pPr marL="0" indent="0" algn="l">
              <a:buNone/>
            </a:pPr>
            <a:r>
              <a:rPr lang="en-US" sz="3000" b="1" dirty="0">
                <a:solidFill>
                  <a:srgbClr val="1E2761"/>
                </a:solidFill>
                <a:latin typeface="Cambria" pitchFamily="34" charset="0"/>
                <a:ea typeface="Cambria" pitchFamily="34" charset="-122"/>
                <a:cs typeface="Cambria" pitchFamily="34" charset="-120"/>
              </a:rPr>
              <a:t>Contexto del Engagement</a:t>
            </a:r>
            <a:endParaRPr lang="en-US" sz="3000" dirty="0"/>
          </a:p>
        </p:txBody>
      </p:sp>
      <p:sp>
        <p:nvSpPr>
          <p:cNvPr id="3" name="Text 1"/>
          <p:cNvSpPr/>
          <p:nvPr/>
        </p:nvSpPr>
        <p:spPr>
          <a:xfrm>
            <a:off x="548640" y="1234440"/>
            <a:ext cx="7315200" cy="274320"/>
          </a:xfrm>
          <a:prstGeom prst="rect">
            <a:avLst/>
          </a:prstGeom>
          <a:noFill/>
          <a:ln/>
        </p:spPr>
        <p:txBody>
          <a:bodyPr wrap="square" lIns="0" tIns="0" rIns="0" bIns="0" rtlCol="0" anchor="ctr"/>
          <a:lstStyle/>
          <a:p>
            <a:pPr marL="0" indent="0">
              <a:buNone/>
            </a:pPr>
            <a:r>
              <a:rPr lang="en-US" sz="1200" b="1" kern="0" spc="150" dirty="0">
                <a:solidFill>
                  <a:srgbClr val="C1272D"/>
                </a:solidFill>
                <a:latin typeface="Calibri" pitchFamily="34" charset="0"/>
                <a:ea typeface="Calibri" pitchFamily="34" charset="-122"/>
                <a:cs typeface="Calibri" pitchFamily="34" charset="-120"/>
              </a:rPr>
              <a:t>ALCANCE (SCOPE)</a:t>
            </a:r>
            <a:endParaRPr lang="en-US" sz="1200" dirty="0"/>
          </a:p>
        </p:txBody>
      </p:sp>
      <p:sp>
        <p:nvSpPr>
          <p:cNvPr id="4" name="Shape 2"/>
          <p:cNvSpPr/>
          <p:nvPr/>
        </p:nvSpPr>
        <p:spPr>
          <a:xfrm>
            <a:off x="548640" y="1691640"/>
            <a:ext cx="2697480" cy="1737360"/>
          </a:xfrm>
          <a:prstGeom prst="roundRect">
            <a:avLst>
              <a:gd name="adj" fmla="val 4211"/>
            </a:avLst>
          </a:prstGeom>
          <a:solidFill>
            <a:srgbClr val="EEF1FB"/>
          </a:solidFill>
          <a:ln/>
        </p:spPr>
        <p:txBody>
          <a:bodyPr/>
          <a:lstStyle/>
          <a:p>
            <a:endParaRPr lang="es-MX"/>
          </a:p>
        </p:txBody>
      </p:sp>
      <p:sp>
        <p:nvSpPr>
          <p:cNvPr id="5" name="Text 3"/>
          <p:cNvSpPr/>
          <p:nvPr/>
        </p:nvSpPr>
        <p:spPr>
          <a:xfrm>
            <a:off x="731520" y="1874520"/>
            <a:ext cx="2331720" cy="274320"/>
          </a:xfrm>
          <a:prstGeom prst="rect">
            <a:avLst/>
          </a:prstGeom>
          <a:noFill/>
          <a:ln/>
        </p:spPr>
        <p:txBody>
          <a:bodyPr wrap="square" lIns="0" tIns="0" rIns="0" bIns="0" rtlCol="0" anchor="ctr"/>
          <a:lstStyle/>
          <a:p>
            <a:pPr marL="0" indent="0">
              <a:buNone/>
            </a:pPr>
            <a:r>
              <a:rPr lang="en-US" sz="900" b="1" kern="0" spc="100" dirty="0">
                <a:solidFill>
                  <a:srgbClr val="3B4C86"/>
                </a:solidFill>
                <a:latin typeface="Calibri" pitchFamily="34" charset="0"/>
                <a:ea typeface="Calibri" pitchFamily="34" charset="-122"/>
                <a:cs typeface="Calibri" pitchFamily="34" charset="-120"/>
              </a:rPr>
              <a:t>TIPO DE PRUEBA</a:t>
            </a:r>
            <a:endParaRPr lang="en-US" sz="900" dirty="0"/>
          </a:p>
        </p:txBody>
      </p:sp>
      <p:sp>
        <p:nvSpPr>
          <p:cNvPr id="6" name="Text 4"/>
          <p:cNvSpPr/>
          <p:nvPr/>
        </p:nvSpPr>
        <p:spPr>
          <a:xfrm>
            <a:off x="731520" y="2194560"/>
            <a:ext cx="2331720" cy="59436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Caja negra (Black Box)</a:t>
            </a:r>
            <a:endParaRPr lang="en-US" sz="1600" dirty="0"/>
          </a:p>
        </p:txBody>
      </p:sp>
      <p:sp>
        <p:nvSpPr>
          <p:cNvPr id="7" name="Text 5"/>
          <p:cNvSpPr/>
          <p:nvPr/>
        </p:nvSpPr>
        <p:spPr>
          <a:xfrm>
            <a:off x="731520" y="2880360"/>
            <a:ext cx="2331720" cy="457200"/>
          </a:xfrm>
          <a:prstGeom prst="rect">
            <a:avLst/>
          </a:prstGeom>
          <a:noFill/>
          <a:ln/>
        </p:spPr>
        <p:txBody>
          <a:bodyPr wrap="square" lIns="0" tIns="0" rIns="0" bIns="0" rtlCol="0" anchor="ctr"/>
          <a:lstStyle/>
          <a:p>
            <a:pPr marL="0" indent="0">
              <a:buNone/>
            </a:pPr>
            <a:r>
              <a:rPr lang="en-US" sz="950" dirty="0">
                <a:solidFill>
                  <a:srgbClr val="8A9BC4"/>
                </a:solidFill>
                <a:latin typeface="Calibri" pitchFamily="34" charset="0"/>
                <a:ea typeface="Calibri" pitchFamily="34" charset="-122"/>
                <a:cs typeface="Calibri" pitchFamily="34" charset="-120"/>
              </a:rPr>
              <a:t>Sin credenciales ni documentación previa del sistema</a:t>
            </a:r>
            <a:endParaRPr lang="en-US" sz="950" dirty="0"/>
          </a:p>
        </p:txBody>
      </p:sp>
      <p:sp>
        <p:nvSpPr>
          <p:cNvPr id="8" name="Shape 6"/>
          <p:cNvSpPr/>
          <p:nvPr/>
        </p:nvSpPr>
        <p:spPr>
          <a:xfrm>
            <a:off x="3474720" y="1691640"/>
            <a:ext cx="2697480" cy="1737360"/>
          </a:xfrm>
          <a:prstGeom prst="roundRect">
            <a:avLst>
              <a:gd name="adj" fmla="val 4211"/>
            </a:avLst>
          </a:prstGeom>
          <a:solidFill>
            <a:srgbClr val="EEF1FB"/>
          </a:solidFill>
          <a:ln/>
        </p:spPr>
        <p:txBody>
          <a:bodyPr/>
          <a:lstStyle/>
          <a:p>
            <a:endParaRPr lang="es-MX"/>
          </a:p>
        </p:txBody>
      </p:sp>
      <p:sp>
        <p:nvSpPr>
          <p:cNvPr id="9" name="Text 7"/>
          <p:cNvSpPr/>
          <p:nvPr/>
        </p:nvSpPr>
        <p:spPr>
          <a:xfrm>
            <a:off x="3657600" y="1874520"/>
            <a:ext cx="2331720" cy="274320"/>
          </a:xfrm>
          <a:prstGeom prst="rect">
            <a:avLst/>
          </a:prstGeom>
          <a:noFill/>
          <a:ln/>
        </p:spPr>
        <p:txBody>
          <a:bodyPr wrap="square" lIns="0" tIns="0" rIns="0" bIns="0" rtlCol="0" anchor="ctr"/>
          <a:lstStyle/>
          <a:p>
            <a:pPr marL="0" indent="0">
              <a:buNone/>
            </a:pPr>
            <a:r>
              <a:rPr lang="en-US" sz="900" b="1" kern="0" spc="100" dirty="0">
                <a:solidFill>
                  <a:srgbClr val="3B4C86"/>
                </a:solidFill>
                <a:latin typeface="Calibri" pitchFamily="34" charset="0"/>
                <a:ea typeface="Calibri" pitchFamily="34" charset="-122"/>
                <a:cs typeface="Calibri" pitchFamily="34" charset="-120"/>
              </a:rPr>
              <a:t>SEGMENTO EVALUADO</a:t>
            </a:r>
            <a:endParaRPr lang="en-US" sz="900" dirty="0"/>
          </a:p>
        </p:txBody>
      </p:sp>
      <p:sp>
        <p:nvSpPr>
          <p:cNvPr id="10" name="Text 8"/>
          <p:cNvSpPr/>
          <p:nvPr/>
        </p:nvSpPr>
        <p:spPr>
          <a:xfrm>
            <a:off x="3657600" y="2194560"/>
            <a:ext cx="2331720" cy="59436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192.168.31.0/24</a:t>
            </a:r>
            <a:endParaRPr lang="en-US" sz="1600" dirty="0"/>
          </a:p>
        </p:txBody>
      </p:sp>
      <p:sp>
        <p:nvSpPr>
          <p:cNvPr id="11" name="Text 9"/>
          <p:cNvSpPr/>
          <p:nvPr/>
        </p:nvSpPr>
        <p:spPr>
          <a:xfrm>
            <a:off x="3657600" y="2880360"/>
            <a:ext cx="2331720" cy="457200"/>
          </a:xfrm>
          <a:prstGeom prst="rect">
            <a:avLst/>
          </a:prstGeom>
          <a:noFill/>
          <a:ln/>
        </p:spPr>
        <p:txBody>
          <a:bodyPr wrap="square" lIns="0" tIns="0" rIns="0" bIns="0" rtlCol="0" anchor="ctr"/>
          <a:lstStyle/>
          <a:p>
            <a:pPr marL="0" indent="0">
              <a:buNone/>
            </a:pPr>
            <a:r>
              <a:rPr lang="en-US" sz="950" dirty="0">
                <a:solidFill>
                  <a:srgbClr val="8A9BC4"/>
                </a:solidFill>
                <a:latin typeface="Calibri" pitchFamily="34" charset="0"/>
                <a:ea typeface="Calibri" pitchFamily="34" charset="-122"/>
                <a:cs typeface="Calibri" pitchFamily="34" charset="-120"/>
              </a:rPr>
              <a:t>Laboratorio controlado, sin acceso a internet</a:t>
            </a:r>
            <a:endParaRPr lang="en-US" sz="950" dirty="0"/>
          </a:p>
        </p:txBody>
      </p:sp>
      <p:sp>
        <p:nvSpPr>
          <p:cNvPr id="12" name="Shape 10"/>
          <p:cNvSpPr/>
          <p:nvPr/>
        </p:nvSpPr>
        <p:spPr>
          <a:xfrm>
            <a:off x="6400800" y="1691640"/>
            <a:ext cx="2697480" cy="1737360"/>
          </a:xfrm>
          <a:prstGeom prst="roundRect">
            <a:avLst>
              <a:gd name="adj" fmla="val 4211"/>
            </a:avLst>
          </a:prstGeom>
          <a:solidFill>
            <a:srgbClr val="EEF1FB"/>
          </a:solidFill>
          <a:ln/>
        </p:spPr>
        <p:txBody>
          <a:bodyPr/>
          <a:lstStyle/>
          <a:p>
            <a:endParaRPr lang="es-MX"/>
          </a:p>
        </p:txBody>
      </p:sp>
      <p:sp>
        <p:nvSpPr>
          <p:cNvPr id="13" name="Text 11"/>
          <p:cNvSpPr/>
          <p:nvPr/>
        </p:nvSpPr>
        <p:spPr>
          <a:xfrm>
            <a:off x="6583680" y="1874520"/>
            <a:ext cx="2331720" cy="274320"/>
          </a:xfrm>
          <a:prstGeom prst="rect">
            <a:avLst/>
          </a:prstGeom>
          <a:noFill/>
          <a:ln/>
        </p:spPr>
        <p:txBody>
          <a:bodyPr wrap="square" lIns="0" tIns="0" rIns="0" bIns="0" rtlCol="0" anchor="ctr"/>
          <a:lstStyle/>
          <a:p>
            <a:pPr marL="0" indent="0">
              <a:buNone/>
            </a:pPr>
            <a:r>
              <a:rPr lang="en-US" sz="900" b="1" kern="0" spc="100" dirty="0">
                <a:solidFill>
                  <a:srgbClr val="3B4C86"/>
                </a:solidFill>
                <a:latin typeface="Calibri" pitchFamily="34" charset="0"/>
                <a:ea typeface="Calibri" pitchFamily="34" charset="-122"/>
                <a:cs typeface="Calibri" pitchFamily="34" charset="-120"/>
              </a:rPr>
              <a:t>HOST OBJETIVO</a:t>
            </a:r>
            <a:endParaRPr lang="en-US" sz="900" dirty="0"/>
          </a:p>
        </p:txBody>
      </p:sp>
      <p:sp>
        <p:nvSpPr>
          <p:cNvPr id="14" name="Text 12"/>
          <p:cNvSpPr/>
          <p:nvPr/>
        </p:nvSpPr>
        <p:spPr>
          <a:xfrm>
            <a:off x="6583680" y="2194560"/>
            <a:ext cx="2331720" cy="59436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192.168.31.5</a:t>
            </a:r>
            <a:endParaRPr lang="en-US" sz="1600" dirty="0"/>
          </a:p>
        </p:txBody>
      </p:sp>
      <p:sp>
        <p:nvSpPr>
          <p:cNvPr id="15" name="Text 13"/>
          <p:cNvSpPr/>
          <p:nvPr/>
        </p:nvSpPr>
        <p:spPr>
          <a:xfrm>
            <a:off x="6583680" y="2880360"/>
            <a:ext cx="2331720" cy="457200"/>
          </a:xfrm>
          <a:prstGeom prst="rect">
            <a:avLst/>
          </a:prstGeom>
          <a:noFill/>
          <a:ln/>
        </p:spPr>
        <p:txBody>
          <a:bodyPr wrap="square" lIns="0" tIns="0" rIns="0" bIns="0" rtlCol="0" anchor="ctr"/>
          <a:lstStyle/>
          <a:p>
            <a:pPr marL="0" indent="0">
              <a:buNone/>
            </a:pPr>
            <a:r>
              <a:rPr lang="en-US" sz="950" dirty="0">
                <a:solidFill>
                  <a:srgbClr val="8A9BC4"/>
                </a:solidFill>
                <a:latin typeface="Calibri" pitchFamily="34" charset="0"/>
                <a:ea typeface="Calibri" pitchFamily="34" charset="-122"/>
                <a:cs typeface="Calibri" pitchFamily="34" charset="-120"/>
              </a:rPr>
              <a:t>Hostname: fileserver</a:t>
            </a:r>
            <a:endParaRPr lang="en-US" sz="950" dirty="0"/>
          </a:p>
        </p:txBody>
      </p:sp>
      <p:sp>
        <p:nvSpPr>
          <p:cNvPr id="16" name="Shape 14"/>
          <p:cNvSpPr/>
          <p:nvPr/>
        </p:nvSpPr>
        <p:spPr>
          <a:xfrm>
            <a:off x="9326880" y="1691640"/>
            <a:ext cx="2697480" cy="1737360"/>
          </a:xfrm>
          <a:prstGeom prst="roundRect">
            <a:avLst>
              <a:gd name="adj" fmla="val 4211"/>
            </a:avLst>
          </a:prstGeom>
          <a:solidFill>
            <a:srgbClr val="EEF1FB"/>
          </a:solidFill>
          <a:ln/>
        </p:spPr>
        <p:txBody>
          <a:bodyPr/>
          <a:lstStyle/>
          <a:p>
            <a:endParaRPr lang="es-MX"/>
          </a:p>
        </p:txBody>
      </p:sp>
      <p:sp>
        <p:nvSpPr>
          <p:cNvPr id="17" name="Text 15"/>
          <p:cNvSpPr/>
          <p:nvPr/>
        </p:nvSpPr>
        <p:spPr>
          <a:xfrm>
            <a:off x="9509760" y="1874520"/>
            <a:ext cx="2331720" cy="274320"/>
          </a:xfrm>
          <a:prstGeom prst="rect">
            <a:avLst/>
          </a:prstGeom>
          <a:noFill/>
          <a:ln/>
        </p:spPr>
        <p:txBody>
          <a:bodyPr wrap="square" lIns="0" tIns="0" rIns="0" bIns="0" rtlCol="0" anchor="ctr"/>
          <a:lstStyle/>
          <a:p>
            <a:pPr marL="0" indent="0">
              <a:buNone/>
            </a:pPr>
            <a:r>
              <a:rPr lang="en-US" sz="900" b="1" kern="0" spc="100" dirty="0">
                <a:solidFill>
                  <a:srgbClr val="3B4C86"/>
                </a:solidFill>
                <a:latin typeface="Calibri" pitchFamily="34" charset="0"/>
                <a:ea typeface="Calibri" pitchFamily="34" charset="-122"/>
                <a:cs typeface="Calibri" pitchFamily="34" charset="-120"/>
              </a:rPr>
              <a:t>VENTANA DE EJECUCIÓN</a:t>
            </a:r>
            <a:endParaRPr lang="en-US" sz="900" dirty="0"/>
          </a:p>
        </p:txBody>
      </p:sp>
      <p:sp>
        <p:nvSpPr>
          <p:cNvPr id="18" name="Text 16"/>
          <p:cNvSpPr/>
          <p:nvPr/>
        </p:nvSpPr>
        <p:spPr>
          <a:xfrm>
            <a:off x="9509760" y="2194560"/>
            <a:ext cx="2331720" cy="59436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01 oct 2026, 10:00-19:00 hrs</a:t>
            </a:r>
            <a:endParaRPr lang="en-US" sz="1600" dirty="0"/>
          </a:p>
        </p:txBody>
      </p:sp>
      <p:sp>
        <p:nvSpPr>
          <p:cNvPr id="19" name="Text 17"/>
          <p:cNvSpPr/>
          <p:nvPr/>
        </p:nvSpPr>
        <p:spPr>
          <a:xfrm>
            <a:off x="9509760" y="2880360"/>
            <a:ext cx="2331720" cy="457200"/>
          </a:xfrm>
          <a:prstGeom prst="rect">
            <a:avLst/>
          </a:prstGeom>
          <a:noFill/>
          <a:ln/>
        </p:spPr>
        <p:txBody>
          <a:bodyPr wrap="square" lIns="0" tIns="0" rIns="0" bIns="0" rtlCol="0" anchor="ctr"/>
          <a:lstStyle/>
          <a:p>
            <a:pPr marL="0" indent="0">
              <a:buNone/>
            </a:pPr>
            <a:r>
              <a:rPr lang="en-US" sz="950" dirty="0">
                <a:solidFill>
                  <a:srgbClr val="8A9BC4"/>
                </a:solidFill>
                <a:latin typeface="Calibri" pitchFamily="34" charset="0"/>
                <a:ea typeface="Calibri" pitchFamily="34" charset="-122"/>
                <a:cs typeface="Calibri" pitchFamily="34" charset="-120"/>
              </a:rPr>
              <a:t>Sesión única documentada</a:t>
            </a:r>
            <a:endParaRPr lang="en-US" sz="950" dirty="0"/>
          </a:p>
        </p:txBody>
      </p:sp>
      <p:sp>
        <p:nvSpPr>
          <p:cNvPr id="20" name="Text 18"/>
          <p:cNvSpPr/>
          <p:nvPr/>
        </p:nvSpPr>
        <p:spPr>
          <a:xfrm>
            <a:off x="548640" y="3794760"/>
            <a:ext cx="7315200" cy="274320"/>
          </a:xfrm>
          <a:prstGeom prst="rect">
            <a:avLst/>
          </a:prstGeom>
          <a:noFill/>
          <a:ln/>
        </p:spPr>
        <p:txBody>
          <a:bodyPr wrap="square" lIns="0" tIns="0" rIns="0" bIns="0" rtlCol="0" anchor="ctr"/>
          <a:lstStyle/>
          <a:p>
            <a:pPr marL="0" indent="0">
              <a:buNone/>
            </a:pPr>
            <a:r>
              <a:rPr lang="en-US" sz="1200" b="1" kern="0" spc="150" dirty="0">
                <a:solidFill>
                  <a:srgbClr val="C1272D"/>
                </a:solidFill>
                <a:latin typeface="Calibri" pitchFamily="34" charset="0"/>
                <a:ea typeface="Calibri" pitchFamily="34" charset="-122"/>
                <a:cs typeface="Calibri" pitchFamily="34" charset="-120"/>
              </a:rPr>
              <a:t>TÉCNICA AUTORIZADA Y FUERA DE ALCANCE</a:t>
            </a:r>
            <a:endParaRPr lang="en-US" sz="1200" dirty="0"/>
          </a:p>
        </p:txBody>
      </p:sp>
      <p:sp>
        <p:nvSpPr>
          <p:cNvPr id="21" name="Text 19"/>
          <p:cNvSpPr/>
          <p:nvPr/>
        </p:nvSpPr>
        <p:spPr>
          <a:xfrm>
            <a:off x="548640" y="4160520"/>
            <a:ext cx="11064240" cy="457200"/>
          </a:xfrm>
          <a:prstGeom prst="rect">
            <a:avLst/>
          </a:prstGeom>
          <a:noFill/>
          <a:ln/>
        </p:spPr>
        <p:txBody>
          <a:bodyPr wrap="square" lIns="0" tIns="0" rIns="0" bIns="0" rtlCol="0" anchor="ctr"/>
          <a:lstStyle/>
          <a:p>
            <a:pPr marL="0" indent="0">
              <a:lnSpc>
                <a:spcPct val="120000"/>
              </a:lnSpc>
              <a:buNone/>
            </a:pPr>
            <a:r>
              <a:rPr lang="en-US" sz="1250" b="1" dirty="0">
                <a:solidFill>
                  <a:srgbClr val="1E2761"/>
                </a:solidFill>
                <a:latin typeface="Calibri" pitchFamily="34" charset="0"/>
                <a:ea typeface="Calibri" pitchFamily="34" charset="-122"/>
                <a:cs typeface="Calibri" pitchFamily="34" charset="-120"/>
              </a:rPr>
              <a:t>Autorizado: </a:t>
            </a:r>
            <a:r>
              <a:rPr lang="en-US" sz="1250" dirty="0">
                <a:solidFill>
                  <a:srgbClr val="1E2761"/>
                </a:solidFill>
                <a:latin typeface="Calibri" pitchFamily="34" charset="0"/>
                <a:ea typeface="Calibri" pitchFamily="34" charset="-122"/>
                <a:cs typeface="Calibri" pitchFamily="34" charset="-120"/>
              </a:rPr>
              <a:t>Reconocimiento activo, enumeración de servicios, explotación de vulnerabilidades y escalada de privilegios local.</a:t>
            </a:r>
            <a:endParaRPr lang="en-US" sz="1250" dirty="0"/>
          </a:p>
        </p:txBody>
      </p:sp>
      <p:sp>
        <p:nvSpPr>
          <p:cNvPr id="22" name="Text 20"/>
          <p:cNvSpPr/>
          <p:nvPr/>
        </p:nvSpPr>
        <p:spPr>
          <a:xfrm>
            <a:off x="548640" y="4663440"/>
            <a:ext cx="11064240" cy="457200"/>
          </a:xfrm>
          <a:prstGeom prst="rect">
            <a:avLst/>
          </a:prstGeom>
          <a:noFill/>
          <a:ln/>
        </p:spPr>
        <p:txBody>
          <a:bodyPr wrap="square" lIns="0" tIns="0" rIns="0" bIns="0" rtlCol="0" anchor="ctr"/>
          <a:lstStyle/>
          <a:p>
            <a:pPr marL="0" indent="0">
              <a:lnSpc>
                <a:spcPct val="120000"/>
              </a:lnSpc>
              <a:buNone/>
            </a:pPr>
            <a:r>
              <a:rPr lang="en-US" sz="1250" b="1" dirty="0">
                <a:solidFill>
                  <a:srgbClr val="C1272D"/>
                </a:solidFill>
                <a:latin typeface="Calibri" pitchFamily="34" charset="0"/>
                <a:ea typeface="Calibri" pitchFamily="34" charset="-122"/>
                <a:cs typeface="Calibri" pitchFamily="34" charset="-120"/>
              </a:rPr>
              <a:t>Fuera de alcance: </a:t>
            </a:r>
            <a:r>
              <a:rPr lang="en-US" sz="1250" dirty="0">
                <a:solidFill>
                  <a:srgbClr val="1E2761"/>
                </a:solidFill>
                <a:latin typeface="Calibri" pitchFamily="34" charset="0"/>
                <a:ea typeface="Calibri" pitchFamily="34" charset="-122"/>
                <a:cs typeface="Calibri" pitchFamily="34" charset="-120"/>
              </a:rPr>
              <a:t>Ataques de denegación de servicio (DoS) deliberados, pivoteo hacia otros segmentos de red, ingeniería social.</a:t>
            </a:r>
            <a:endParaRPr lang="en-US" sz="1250" dirty="0"/>
          </a:p>
        </p:txBody>
      </p:sp>
      <p:sp>
        <p:nvSpPr>
          <p:cNvPr id="23" name="Text 21"/>
          <p:cNvSpPr/>
          <p:nvPr/>
        </p:nvSpPr>
        <p:spPr>
          <a:xfrm>
            <a:off x="548640" y="5257800"/>
            <a:ext cx="11064240" cy="365760"/>
          </a:xfrm>
          <a:prstGeom prst="rect">
            <a:avLst/>
          </a:prstGeom>
          <a:noFill/>
          <a:ln/>
        </p:spPr>
        <p:txBody>
          <a:bodyPr wrap="square" lIns="0" tIns="0" rIns="0" bIns="0" rtlCol="0" anchor="ctr"/>
          <a:lstStyle/>
          <a:p>
            <a:pPr marL="0" indent="0">
              <a:buNone/>
            </a:pPr>
            <a:r>
              <a:rPr lang="en-US" sz="1100" i="1" dirty="0">
                <a:solidFill>
                  <a:srgbClr val="8A9BC4"/>
                </a:solidFill>
                <a:latin typeface="Calibri" pitchFamily="34" charset="0"/>
                <a:ea typeface="Calibri" pitchFamily="34" charset="-122"/>
                <a:cs typeface="Calibri" pitchFamily="34" charset="-120"/>
              </a:rPr>
              <a:t>Host atacante: Kali Linux — 192.168.31.45 (eth0)</a:t>
            </a:r>
            <a:endParaRPr lang="en-US" sz="1100" dirty="0"/>
          </a:p>
        </p:txBody>
      </p:sp>
      <p:sp>
        <p:nvSpPr>
          <p:cNvPr id="25" name="Slide Number Placeholder 0"/>
          <p:cNvSpPr>
            <a:spLocks noGrp="1"/>
          </p:cNvSpPr>
          <p:nvPr>
            <p:ph type="sldNum" sz="quarter" idx="4294967295"/>
          </p:nvPr>
        </p:nvSpPr>
        <p:spPr>
          <a:xfrm>
            <a:off x="1152144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BC4"/>
                </a:solidFill>
                <a:latin typeface="Calibri"/>
                <a:ea typeface="Calibri"/>
                <a:cs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64240" cy="731520"/>
          </a:xfrm>
          <a:prstGeom prst="rect">
            <a:avLst/>
          </a:prstGeom>
          <a:noFill/>
          <a:ln/>
        </p:spPr>
        <p:txBody>
          <a:bodyPr wrap="square" lIns="0" tIns="0" rIns="0" bIns="0" rtlCol="0"/>
          <a:lstStyle/>
          <a:p>
            <a:pPr marL="0" indent="0" algn="l">
              <a:buNone/>
            </a:pPr>
            <a:r>
              <a:rPr lang="en-US" sz="3000" b="1" dirty="0">
                <a:solidFill>
                  <a:srgbClr val="1E2761"/>
                </a:solidFill>
                <a:latin typeface="Cambria" pitchFamily="34" charset="0"/>
                <a:ea typeface="Cambria" pitchFamily="34" charset="-122"/>
                <a:cs typeface="Cambria" pitchFamily="34" charset="-120"/>
              </a:rPr>
              <a:t>Metodología Aplicada</a:t>
            </a:r>
            <a:endParaRPr lang="en-US" sz="3000" dirty="0"/>
          </a:p>
        </p:txBody>
      </p:sp>
      <p:sp>
        <p:nvSpPr>
          <p:cNvPr id="3" name="Text 1"/>
          <p:cNvSpPr/>
          <p:nvPr/>
        </p:nvSpPr>
        <p:spPr>
          <a:xfrm>
            <a:off x="548640" y="1234440"/>
            <a:ext cx="7315200" cy="274320"/>
          </a:xfrm>
          <a:prstGeom prst="rect">
            <a:avLst/>
          </a:prstGeom>
          <a:noFill/>
          <a:ln/>
        </p:spPr>
        <p:txBody>
          <a:bodyPr wrap="square" lIns="0" tIns="0" rIns="0" bIns="0" rtlCol="0" anchor="ctr"/>
          <a:lstStyle/>
          <a:p>
            <a:pPr marL="0" indent="0">
              <a:buNone/>
            </a:pPr>
            <a:r>
              <a:rPr lang="en-US" sz="1200" b="1" kern="0" spc="150" dirty="0">
                <a:solidFill>
                  <a:srgbClr val="C1272D"/>
                </a:solidFill>
                <a:latin typeface="Calibri" pitchFamily="34" charset="0"/>
                <a:ea typeface="Calibri" pitchFamily="34" charset="-122"/>
                <a:cs typeface="Calibri" pitchFamily="34" charset="-120"/>
              </a:rPr>
              <a:t>ESTÁNDAR PTES — PENETRATION TESTING EXECUTION STANDARD</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4572000"/>
        </p:xfrm>
        <a:graphic>
          <a:graphicData uri="http://schemas.openxmlformats.org/drawingml/2006/table">
            <a:tbl>
              <a:tblPr/>
              <a:tblGrid>
                <a:gridCol w="8229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7498080">
                  <a:extLst>
                    <a:ext uri="{9D8B030D-6E8A-4147-A177-3AD203B41FA5}">
                      <a16:colId xmlns:a16="http://schemas.microsoft.com/office/drawing/2014/main" val="20002"/>
                    </a:ext>
                  </a:extLst>
                </a:gridCol>
              </a:tblGrid>
              <a:tr h="571500">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FASE</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ETAPA PTES</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APLICACIÓN EN ESTE ENGAGEMENT</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71500">
                <a:tc>
                  <a:txBody>
                    <a:bodyPr/>
                    <a:lstStyle/>
                    <a:p>
                      <a:pPr marL="0" indent="0" algn="ctr">
                        <a:buNone/>
                      </a:pPr>
                      <a:r>
                        <a:rPr lang="en-US" sz="1050" b="1" dirty="0">
                          <a:solidFill>
                            <a:srgbClr val="C1272D"/>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50" b="1" dirty="0">
                          <a:solidFill>
                            <a:srgbClr val="1E2761"/>
                          </a:solidFill>
                          <a:latin typeface="Calibri" pitchFamily="34" charset="0"/>
                          <a:ea typeface="Calibri" pitchFamily="34" charset="-122"/>
                          <a:cs typeface="Calibri" pitchFamily="34" charset="-120"/>
                        </a:rPr>
                        <a:t>Pre-engagement</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50" dirty="0">
                          <a:solidFill>
                            <a:srgbClr val="1E2761"/>
                          </a:solidFill>
                          <a:latin typeface="Calibri" pitchFamily="34" charset="0"/>
                          <a:ea typeface="Calibri" pitchFamily="34" charset="-122"/>
                          <a:cs typeface="Calibri" pitchFamily="34" charset="-120"/>
                        </a:rPr>
                        <a:t>Alcance definido, autorización del docente, laboratorio aislado</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1500">
                <a:tc>
                  <a:txBody>
                    <a:bodyPr/>
                    <a:lstStyle/>
                    <a:p>
                      <a:pPr marL="0" indent="0" algn="ctr">
                        <a:buNone/>
                      </a:pPr>
                      <a:r>
                        <a:rPr lang="en-US" sz="1050" b="1" dirty="0">
                          <a:solidFill>
                            <a:srgbClr val="C1272D"/>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1FB"/>
                    </a:solidFill>
                  </a:tcPr>
                </a:tc>
                <a:tc>
                  <a:txBody>
                    <a:bodyPr/>
                    <a:lstStyle/>
                    <a:p>
                      <a:pPr marL="0" indent="0">
                        <a:buNone/>
                      </a:pPr>
                      <a:r>
                        <a:rPr lang="en-US" sz="1050" b="1" dirty="0">
                          <a:solidFill>
                            <a:srgbClr val="1E2761"/>
                          </a:solidFill>
                          <a:latin typeface="Calibri" pitchFamily="34" charset="0"/>
                          <a:ea typeface="Calibri" pitchFamily="34" charset="-122"/>
                          <a:cs typeface="Calibri" pitchFamily="34" charset="-120"/>
                        </a:rPr>
                        <a:t>Intelligence Gathering</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1FB"/>
                    </a:solidFill>
                  </a:tcPr>
                </a:tc>
                <a:tc>
                  <a:txBody>
                    <a:bodyPr/>
                    <a:lstStyle/>
                    <a:p>
                      <a:pPr marL="0" indent="0">
                        <a:buNone/>
                      </a:pPr>
                      <a:r>
                        <a:rPr lang="en-US" sz="1050" dirty="0">
                          <a:solidFill>
                            <a:srgbClr val="1E2761"/>
                          </a:solidFill>
                          <a:latin typeface="Calibri" pitchFamily="34" charset="0"/>
                          <a:ea typeface="Calibri" pitchFamily="34" charset="-122"/>
                          <a:cs typeface="Calibri" pitchFamily="34" charset="-120"/>
                        </a:rPr>
                        <a:t>Descubrimiento de hosts con netdiscover; identificación por MAC vendor</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1FB"/>
                    </a:solidFill>
                  </a:tcPr>
                </a:tc>
                <a:extLst>
                  <a:ext uri="{0D108BD9-81ED-4DB2-BD59-A6C34878D82A}">
                    <a16:rowId xmlns:a16="http://schemas.microsoft.com/office/drawing/2014/main" val="10002"/>
                  </a:ext>
                </a:extLst>
              </a:tr>
              <a:tr h="571500">
                <a:tc>
                  <a:txBody>
                    <a:bodyPr/>
                    <a:lstStyle/>
                    <a:p>
                      <a:pPr marL="0" indent="0" algn="ctr">
                        <a:buNone/>
                      </a:pPr>
                      <a:r>
                        <a:rPr lang="en-US" sz="1050" b="1" dirty="0">
                          <a:solidFill>
                            <a:srgbClr val="C1272D"/>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50" b="1" dirty="0">
                          <a:solidFill>
                            <a:srgbClr val="1E2761"/>
                          </a:solidFill>
                          <a:latin typeface="Calibri" pitchFamily="34" charset="0"/>
                          <a:ea typeface="Calibri" pitchFamily="34" charset="-122"/>
                          <a:cs typeface="Calibri" pitchFamily="34" charset="-120"/>
                        </a:rPr>
                        <a:t>Threat Modeling</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50" dirty="0">
                          <a:solidFill>
                            <a:srgbClr val="1E2761"/>
                          </a:solidFill>
                          <a:latin typeface="Calibri" pitchFamily="34" charset="0"/>
                          <a:ea typeface="Calibri" pitchFamily="34" charset="-122"/>
                          <a:cs typeface="Calibri" pitchFamily="34" charset="-120"/>
                        </a:rPr>
                        <a:t>Priorización de servicios expuestos: FTP, SMB, HTTP, SSH</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1500">
                <a:tc>
                  <a:txBody>
                    <a:bodyPr/>
                    <a:lstStyle/>
                    <a:p>
                      <a:pPr marL="0" indent="0" algn="ctr">
                        <a:buNone/>
                      </a:pPr>
                      <a:r>
                        <a:rPr lang="en-US" sz="1050" b="1" dirty="0">
                          <a:solidFill>
                            <a:srgbClr val="C1272D"/>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1FB"/>
                    </a:solidFill>
                  </a:tcPr>
                </a:tc>
                <a:tc>
                  <a:txBody>
                    <a:bodyPr/>
                    <a:lstStyle/>
                    <a:p>
                      <a:pPr marL="0" indent="0">
                        <a:buNone/>
                      </a:pPr>
                      <a:r>
                        <a:rPr lang="en-US" sz="1050" b="1" dirty="0">
                          <a:solidFill>
                            <a:srgbClr val="1E2761"/>
                          </a:solidFill>
                          <a:latin typeface="Calibri" pitchFamily="34" charset="0"/>
                          <a:ea typeface="Calibri" pitchFamily="34" charset="-122"/>
                          <a:cs typeface="Calibri" pitchFamily="34" charset="-120"/>
                        </a:rPr>
                        <a:t>Vulnerability Analysis</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1FB"/>
                    </a:solidFill>
                  </a:tcPr>
                </a:tc>
                <a:tc>
                  <a:txBody>
                    <a:bodyPr/>
                    <a:lstStyle/>
                    <a:p>
                      <a:pPr marL="0" indent="0">
                        <a:buNone/>
                      </a:pPr>
                      <a:r>
                        <a:rPr lang="en-US" sz="1050" dirty="0">
                          <a:solidFill>
                            <a:srgbClr val="1E2761"/>
                          </a:solidFill>
                          <a:latin typeface="Calibri" pitchFamily="34" charset="0"/>
                          <a:ea typeface="Calibri" pitchFamily="34" charset="-122"/>
                          <a:cs typeface="Calibri" pitchFamily="34" charset="-120"/>
                        </a:rPr>
                        <a:t>Escaneo con nmap (-sV, -A), enumeración con smbmap, análisis web con nikto</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1FB"/>
                    </a:solidFill>
                  </a:tcPr>
                </a:tc>
                <a:extLst>
                  <a:ext uri="{0D108BD9-81ED-4DB2-BD59-A6C34878D82A}">
                    <a16:rowId xmlns:a16="http://schemas.microsoft.com/office/drawing/2014/main" val="10004"/>
                  </a:ext>
                </a:extLst>
              </a:tr>
              <a:tr h="571500">
                <a:tc>
                  <a:txBody>
                    <a:bodyPr/>
                    <a:lstStyle/>
                    <a:p>
                      <a:pPr marL="0" indent="0" algn="ctr">
                        <a:buNone/>
                      </a:pPr>
                      <a:r>
                        <a:rPr lang="en-US" sz="1050" b="1" dirty="0">
                          <a:solidFill>
                            <a:srgbClr val="C1272D"/>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50" b="1" dirty="0">
                          <a:solidFill>
                            <a:srgbClr val="1E2761"/>
                          </a:solidFill>
                          <a:latin typeface="Calibri" pitchFamily="34" charset="0"/>
                          <a:ea typeface="Calibri" pitchFamily="34" charset="-122"/>
                          <a:cs typeface="Calibri" pitchFamily="34" charset="-120"/>
                        </a:rPr>
                        <a:t>Exploitation</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50" dirty="0">
                          <a:solidFill>
                            <a:srgbClr val="1E2761"/>
                          </a:solidFill>
                          <a:latin typeface="Calibri" pitchFamily="34" charset="0"/>
                          <a:ea typeface="Calibri" pitchFamily="34" charset="-122"/>
                          <a:cs typeface="Calibri" pitchFamily="34" charset="-120"/>
                        </a:rPr>
                        <a:t>Credenciales filtradas, autenticación FTP/SSH, inyección de llave SSH</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71500">
                <a:tc>
                  <a:txBody>
                    <a:bodyPr/>
                    <a:lstStyle/>
                    <a:p>
                      <a:pPr marL="0" indent="0" algn="ctr">
                        <a:buNone/>
                      </a:pPr>
                      <a:r>
                        <a:rPr lang="en-US" sz="1050" b="1" dirty="0">
                          <a:solidFill>
                            <a:srgbClr val="C1272D"/>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1FB"/>
                    </a:solidFill>
                  </a:tcPr>
                </a:tc>
                <a:tc>
                  <a:txBody>
                    <a:bodyPr/>
                    <a:lstStyle/>
                    <a:p>
                      <a:pPr marL="0" indent="0">
                        <a:buNone/>
                      </a:pPr>
                      <a:r>
                        <a:rPr lang="en-US" sz="1050" b="1" dirty="0">
                          <a:solidFill>
                            <a:srgbClr val="1E2761"/>
                          </a:solidFill>
                          <a:latin typeface="Calibri" pitchFamily="34" charset="0"/>
                          <a:ea typeface="Calibri" pitchFamily="34" charset="-122"/>
                          <a:cs typeface="Calibri" pitchFamily="34" charset="-120"/>
                        </a:rPr>
                        <a:t>Post-Exploitation</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1FB"/>
                    </a:solidFill>
                  </a:tcPr>
                </a:tc>
                <a:tc>
                  <a:txBody>
                    <a:bodyPr/>
                    <a:lstStyle/>
                    <a:p>
                      <a:pPr marL="0" indent="0">
                        <a:buNone/>
                      </a:pPr>
                      <a:r>
                        <a:rPr lang="en-US" sz="1050" dirty="0">
                          <a:solidFill>
                            <a:srgbClr val="1E2761"/>
                          </a:solidFill>
                          <a:latin typeface="Calibri" pitchFamily="34" charset="0"/>
                          <a:ea typeface="Calibri" pitchFamily="34" charset="-122"/>
                          <a:cs typeface="Calibri" pitchFamily="34" charset="-120"/>
                        </a:rPr>
                        <a:t>uname -a, exploit CVE-2016-5195 (Dirty COW), shell root obtenida</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1FB"/>
                    </a:solidFill>
                  </a:tcPr>
                </a:tc>
                <a:extLst>
                  <a:ext uri="{0D108BD9-81ED-4DB2-BD59-A6C34878D82A}">
                    <a16:rowId xmlns:a16="http://schemas.microsoft.com/office/drawing/2014/main" val="10006"/>
                  </a:ext>
                </a:extLst>
              </a:tr>
              <a:tr h="571500">
                <a:tc>
                  <a:txBody>
                    <a:bodyPr/>
                    <a:lstStyle/>
                    <a:p>
                      <a:pPr marL="0" indent="0" algn="ctr">
                        <a:buNone/>
                      </a:pPr>
                      <a:r>
                        <a:rPr lang="en-US" sz="1050" b="1" dirty="0">
                          <a:solidFill>
                            <a:srgbClr val="C1272D"/>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50" b="1" dirty="0">
                          <a:solidFill>
                            <a:srgbClr val="1E2761"/>
                          </a:solidFill>
                          <a:latin typeface="Calibri" pitchFamily="34" charset="0"/>
                          <a:ea typeface="Calibri" pitchFamily="34" charset="-122"/>
                          <a:cs typeface="Calibri" pitchFamily="34" charset="-120"/>
                        </a:rPr>
                        <a:t>Reporting</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50" dirty="0">
                          <a:solidFill>
                            <a:srgbClr val="1E2761"/>
                          </a:solidFill>
                          <a:latin typeface="Calibri" pitchFamily="34" charset="0"/>
                          <a:ea typeface="Calibri" pitchFamily="34" charset="-122"/>
                          <a:cs typeface="Calibri" pitchFamily="34" charset="-120"/>
                        </a:rPr>
                        <a:t>Elaboración de este documento con evidencia y plan de remediación</a:t>
                      </a:r>
                      <a:endParaRPr lang="en-US" sz="1050" dirty="0">
                        <a:latin typeface="Calibri" charset="0"/>
                        <a:ea typeface="Calibri" charset="0"/>
                        <a:cs typeface="Calibri"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52144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BC4"/>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868680"/>
            <a:ext cx="9144000" cy="365760"/>
          </a:xfrm>
          <a:prstGeom prst="rect">
            <a:avLst/>
          </a:prstGeom>
          <a:noFill/>
          <a:ln/>
        </p:spPr>
        <p:txBody>
          <a:bodyPr wrap="square" lIns="0" tIns="0" rIns="0" bIns="0" rtlCol="0" anchor="ctr"/>
          <a:lstStyle/>
          <a:p>
            <a:pPr marL="0" indent="0">
              <a:buNone/>
            </a:pPr>
            <a:r>
              <a:rPr lang="en-US" sz="1300" b="1" kern="0" spc="150" dirty="0">
                <a:solidFill>
                  <a:srgbClr val="CADCFC"/>
                </a:solidFill>
                <a:latin typeface="Calibri" pitchFamily="34" charset="0"/>
                <a:ea typeface="Calibri" pitchFamily="34" charset="-122"/>
                <a:cs typeface="Calibri" pitchFamily="34" charset="-120"/>
              </a:rPr>
              <a:t>NIVEL GENERAL DEL RIESGO</a:t>
            </a:r>
            <a:endParaRPr lang="en-US" sz="1300" dirty="0"/>
          </a:p>
        </p:txBody>
      </p:sp>
      <p:sp>
        <p:nvSpPr>
          <p:cNvPr id="3" name="Text 1"/>
          <p:cNvSpPr/>
          <p:nvPr/>
        </p:nvSpPr>
        <p:spPr>
          <a:xfrm>
            <a:off x="548640" y="1188720"/>
            <a:ext cx="6858000" cy="1463040"/>
          </a:xfrm>
          <a:prstGeom prst="rect">
            <a:avLst/>
          </a:prstGeom>
          <a:noFill/>
          <a:ln/>
        </p:spPr>
        <p:txBody>
          <a:bodyPr wrap="square" lIns="0" tIns="0" rIns="0" bIns="0" rtlCol="0" anchor="ctr"/>
          <a:lstStyle/>
          <a:p>
            <a:pPr marL="0" indent="0">
              <a:buNone/>
            </a:pPr>
            <a:r>
              <a:rPr lang="en-US" sz="7200" b="1" dirty="0">
                <a:solidFill>
                  <a:srgbClr val="C1272D"/>
                </a:solidFill>
                <a:latin typeface="Cambria" pitchFamily="34" charset="0"/>
                <a:ea typeface="Cambria" pitchFamily="34" charset="-122"/>
                <a:cs typeface="Cambria" pitchFamily="34" charset="-120"/>
              </a:rPr>
              <a:t>CRÍTICO</a:t>
            </a:r>
            <a:endParaRPr lang="en-US" sz="7200" dirty="0"/>
          </a:p>
        </p:txBody>
      </p:sp>
      <p:sp>
        <p:nvSpPr>
          <p:cNvPr id="4" name="Text 2"/>
          <p:cNvSpPr/>
          <p:nvPr/>
        </p:nvSpPr>
        <p:spPr>
          <a:xfrm>
            <a:off x="548640" y="2697480"/>
            <a:ext cx="6675120" cy="1097280"/>
          </a:xfrm>
          <a:prstGeom prst="rect">
            <a:avLst/>
          </a:prstGeom>
          <a:noFill/>
          <a:ln/>
        </p:spPr>
        <p:txBody>
          <a:bodyPr wrap="square" lIns="0" tIns="0" rIns="0" bIns="0" rtlCol="0" anchor="ctr"/>
          <a:lstStyle/>
          <a:p>
            <a:pPr marL="0" indent="0">
              <a:lnSpc>
                <a:spcPct val="125000"/>
              </a:lnSpc>
              <a:buNone/>
            </a:pPr>
            <a:r>
              <a:rPr lang="en-US" sz="1350" dirty="0">
                <a:solidFill>
                  <a:srgbClr val="FFFFFF"/>
                </a:solidFill>
                <a:latin typeface="Calibri" pitchFamily="34" charset="0"/>
                <a:ea typeface="Calibri" pitchFamily="34" charset="-122"/>
                <a:cs typeface="Calibri" pitchFamily="34" charset="-120"/>
              </a:rPr>
              <a:t>A partir de una posición completamente no autenticada en la red, se logró escalar hasta obtener una shell interactiva con privilegios de root: compromiso total del sistema objetivo.</a:t>
            </a:r>
            <a:endParaRPr lang="en-US" sz="1350" dirty="0"/>
          </a:p>
        </p:txBody>
      </p:sp>
      <p:sp>
        <p:nvSpPr>
          <p:cNvPr id="5" name="Text 3"/>
          <p:cNvSpPr/>
          <p:nvPr/>
        </p:nvSpPr>
        <p:spPr>
          <a:xfrm>
            <a:off x="548640" y="3977640"/>
            <a:ext cx="1280160" cy="548640"/>
          </a:xfrm>
          <a:prstGeom prst="rect">
            <a:avLst/>
          </a:prstGeom>
          <a:noFill/>
          <a:ln/>
        </p:spPr>
        <p:txBody>
          <a:bodyPr wrap="square" lIns="0" tIns="0" rIns="0" bIns="0" rtlCol="0" anchor="ctr"/>
          <a:lstStyle/>
          <a:p>
            <a:pPr marL="0" indent="0">
              <a:buNone/>
            </a:pPr>
            <a:r>
              <a:rPr lang="en-US" sz="3000" b="1" dirty="0">
                <a:solidFill>
                  <a:srgbClr val="CADCFC"/>
                </a:solidFill>
                <a:latin typeface="Cambria" pitchFamily="34" charset="0"/>
                <a:ea typeface="Cambria" pitchFamily="34" charset="-122"/>
                <a:cs typeface="Cambria" pitchFamily="34" charset="-120"/>
              </a:rPr>
              <a:t>9.1</a:t>
            </a:r>
            <a:endParaRPr lang="en-US" sz="3000" dirty="0"/>
          </a:p>
        </p:txBody>
      </p:sp>
      <p:sp>
        <p:nvSpPr>
          <p:cNvPr id="6" name="Text 4"/>
          <p:cNvSpPr/>
          <p:nvPr/>
        </p:nvSpPr>
        <p:spPr>
          <a:xfrm>
            <a:off x="1874520" y="3977640"/>
            <a:ext cx="5303520" cy="54864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CVSS v3.1 — cadena completa (crítico)</a:t>
            </a:r>
            <a:endParaRPr lang="en-US" sz="1150" dirty="0"/>
          </a:p>
        </p:txBody>
      </p:sp>
      <p:sp>
        <p:nvSpPr>
          <p:cNvPr id="7" name="Text 5"/>
          <p:cNvSpPr/>
          <p:nvPr/>
        </p:nvSpPr>
        <p:spPr>
          <a:xfrm>
            <a:off x="548640" y="4599432"/>
            <a:ext cx="1280160" cy="548640"/>
          </a:xfrm>
          <a:prstGeom prst="rect">
            <a:avLst/>
          </a:prstGeom>
          <a:noFill/>
          <a:ln/>
        </p:spPr>
        <p:txBody>
          <a:bodyPr wrap="square" lIns="0" tIns="0" rIns="0" bIns="0" rtlCol="0" anchor="ctr"/>
          <a:lstStyle/>
          <a:p>
            <a:pPr marL="0" indent="0">
              <a:buNone/>
            </a:pPr>
            <a:r>
              <a:rPr lang="en-US" sz="3000" b="1" dirty="0">
                <a:solidFill>
                  <a:srgbClr val="CADCFC"/>
                </a:solidFill>
                <a:latin typeface="Cambria" pitchFamily="34" charset="0"/>
                <a:ea typeface="Cambria" pitchFamily="34" charset="-122"/>
                <a:cs typeface="Cambria" pitchFamily="34" charset="-120"/>
              </a:rPr>
              <a:t>7.8</a:t>
            </a:r>
            <a:endParaRPr lang="en-US" sz="3000" dirty="0"/>
          </a:p>
        </p:txBody>
      </p:sp>
      <p:sp>
        <p:nvSpPr>
          <p:cNvPr id="8" name="Text 6"/>
          <p:cNvSpPr/>
          <p:nvPr/>
        </p:nvSpPr>
        <p:spPr>
          <a:xfrm>
            <a:off x="1874520" y="4599432"/>
            <a:ext cx="5303520" cy="54864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CVSS v3.1 — hallazgo raíz, Dirty COW (alto)</a:t>
            </a:r>
            <a:endParaRPr lang="en-US" sz="1150" dirty="0"/>
          </a:p>
        </p:txBody>
      </p:sp>
      <p:sp>
        <p:nvSpPr>
          <p:cNvPr id="9" name="Text 7"/>
          <p:cNvSpPr/>
          <p:nvPr/>
        </p:nvSpPr>
        <p:spPr>
          <a:xfrm>
            <a:off x="548640" y="5221224"/>
            <a:ext cx="1280160" cy="548640"/>
          </a:xfrm>
          <a:prstGeom prst="rect">
            <a:avLst/>
          </a:prstGeom>
          <a:noFill/>
          <a:ln/>
        </p:spPr>
        <p:txBody>
          <a:bodyPr wrap="square" lIns="0" tIns="0" rIns="0" bIns="0" rtlCol="0" anchor="ctr"/>
          <a:lstStyle/>
          <a:p>
            <a:pPr marL="0" indent="0">
              <a:buNone/>
            </a:pPr>
            <a:r>
              <a:rPr lang="en-US" sz="3000" b="1" dirty="0">
                <a:solidFill>
                  <a:srgbClr val="CADCFC"/>
                </a:solidFill>
                <a:latin typeface="Cambria" pitchFamily="34" charset="0"/>
                <a:ea typeface="Cambria" pitchFamily="34" charset="-122"/>
                <a:cs typeface="Cambria" pitchFamily="34" charset="-120"/>
              </a:rPr>
              <a:t>0</a:t>
            </a:r>
            <a:endParaRPr lang="en-US" sz="3000" dirty="0"/>
          </a:p>
        </p:txBody>
      </p:sp>
      <p:sp>
        <p:nvSpPr>
          <p:cNvPr id="10" name="Text 8"/>
          <p:cNvSpPr/>
          <p:nvPr/>
        </p:nvSpPr>
        <p:spPr>
          <a:xfrm>
            <a:off x="1874520" y="5221224"/>
            <a:ext cx="5303520" cy="54864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Privilegios requeridos para iniciar el ataque</a:t>
            </a:r>
            <a:endParaRPr lang="en-US" sz="1150" dirty="0"/>
          </a:p>
        </p:txBody>
      </p:sp>
      <p:sp>
        <p:nvSpPr>
          <p:cNvPr id="11" name="Shape 9"/>
          <p:cNvSpPr/>
          <p:nvPr/>
        </p:nvSpPr>
        <p:spPr>
          <a:xfrm>
            <a:off x="7772400" y="1188720"/>
            <a:ext cx="3840480" cy="4572000"/>
          </a:xfrm>
          <a:prstGeom prst="roundRect">
            <a:avLst>
              <a:gd name="adj" fmla="val 1905"/>
            </a:avLst>
          </a:prstGeom>
          <a:solidFill>
            <a:srgbClr val="1E2761"/>
          </a:solidFill>
          <a:ln w="12700">
            <a:solidFill>
              <a:srgbClr val="3B4C86"/>
            </a:solidFill>
            <a:prstDash val="solid"/>
          </a:ln>
        </p:spPr>
        <p:txBody>
          <a:bodyPr/>
          <a:lstStyle/>
          <a:p>
            <a:endParaRPr lang="es-MX"/>
          </a:p>
        </p:txBody>
      </p:sp>
      <p:sp>
        <p:nvSpPr>
          <p:cNvPr id="12" name="Text 10"/>
          <p:cNvSpPr/>
          <p:nvPr/>
        </p:nvSpPr>
        <p:spPr>
          <a:xfrm>
            <a:off x="8046720" y="1417320"/>
            <a:ext cx="3291840" cy="274320"/>
          </a:xfrm>
          <a:prstGeom prst="rect">
            <a:avLst/>
          </a:prstGeom>
          <a:noFill/>
          <a:ln/>
        </p:spPr>
        <p:txBody>
          <a:bodyPr wrap="square" lIns="0" tIns="0" rIns="0" bIns="0" rtlCol="0" anchor="ctr"/>
          <a:lstStyle/>
          <a:p>
            <a:pPr marL="0" indent="0">
              <a:buNone/>
            </a:pPr>
            <a:r>
              <a:rPr lang="en-US" sz="1000" b="1" kern="0" spc="100" dirty="0">
                <a:solidFill>
                  <a:srgbClr val="CADCFC"/>
                </a:solidFill>
                <a:latin typeface="Calibri" pitchFamily="34" charset="0"/>
                <a:ea typeface="Calibri" pitchFamily="34" charset="-122"/>
                <a:cs typeface="Calibri" pitchFamily="34" charset="-120"/>
              </a:rPr>
              <a:t>ACTIVOS COMPROMETIDOS</a:t>
            </a:r>
            <a:endParaRPr lang="en-US" sz="1000" dirty="0"/>
          </a:p>
        </p:txBody>
      </p:sp>
      <p:sp>
        <p:nvSpPr>
          <p:cNvPr id="13" name="Text 11"/>
          <p:cNvSpPr/>
          <p:nvPr/>
        </p:nvSpPr>
        <p:spPr>
          <a:xfrm>
            <a:off x="8046720" y="1828800"/>
            <a:ext cx="3291840" cy="1645920"/>
          </a:xfrm>
          <a:prstGeom prst="rect">
            <a:avLst/>
          </a:prstGeom>
          <a:noFill/>
          <a:ln/>
        </p:spPr>
        <p:txBody>
          <a:bodyPr wrap="square" lIns="0" tIns="0" rIns="0" bIns="0" rtlCol="0" anchor="ctr"/>
          <a:lstStyle/>
          <a:p>
            <a:pPr marL="342900" indent="-342900">
              <a:lnSpc>
                <a:spcPct val="130000"/>
              </a:lnSpc>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Sistema operativo completo (CentOS 7)</a:t>
            </a:r>
            <a:endParaRPr lang="en-US" sz="1150" dirty="0"/>
          </a:p>
          <a:p>
            <a:pPr marL="342900" indent="-342900">
              <a:lnSpc>
                <a:spcPct val="130000"/>
              </a:lnSpc>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Credenciales del sistema (smbuser)</a:t>
            </a:r>
            <a:endParaRPr lang="en-US" sz="1150" dirty="0"/>
          </a:p>
          <a:p>
            <a:pPr marL="342900" indent="-342900">
              <a:lnSpc>
                <a:spcPct val="130000"/>
              </a:lnSpc>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Binarios críticos (/usr/bin/passwd)</a:t>
            </a:r>
            <a:endParaRPr lang="en-US" sz="1150" dirty="0"/>
          </a:p>
          <a:p>
            <a:pPr marL="342900" indent="-342900">
              <a:lnSpc>
                <a:spcPct val="130000"/>
              </a:lnSpc>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Servicio de archivos y datos compartidos</a:t>
            </a:r>
            <a:endParaRPr lang="en-US" sz="1150" dirty="0"/>
          </a:p>
        </p:txBody>
      </p:sp>
      <p:sp>
        <p:nvSpPr>
          <p:cNvPr id="14" name="Text 12"/>
          <p:cNvSpPr/>
          <p:nvPr/>
        </p:nvSpPr>
        <p:spPr>
          <a:xfrm>
            <a:off x="8046720" y="5120640"/>
            <a:ext cx="3291840" cy="548640"/>
          </a:xfrm>
          <a:prstGeom prst="rect">
            <a:avLst/>
          </a:prstGeom>
          <a:noFill/>
          <a:ln/>
        </p:spPr>
        <p:txBody>
          <a:bodyPr wrap="square" lIns="0" tIns="0" rIns="0" bIns="0" rtlCol="0" anchor="ctr"/>
          <a:lstStyle/>
          <a:p>
            <a:pPr marL="0" indent="0">
              <a:buNone/>
            </a:pPr>
            <a:r>
              <a:rPr lang="en-US" sz="1050" b="1" dirty="0">
                <a:solidFill>
                  <a:srgbClr val="D99A00"/>
                </a:solidFill>
                <a:latin typeface="Calibri" pitchFamily="34" charset="0"/>
                <a:ea typeface="Calibri" pitchFamily="34" charset="-122"/>
                <a:cs typeface="Calibri" pitchFamily="34" charset="-120"/>
              </a:rPr>
              <a:t>Interacción de la víctima requerida: NINGUNA</a:t>
            </a:r>
            <a:endParaRPr lang="en-US" sz="105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BC4"/>
                </a:solidFill>
                <a:latin typeface="Calibri"/>
                <a:ea typeface="Calibri"/>
                <a:cs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64240" cy="731520"/>
          </a:xfrm>
          <a:prstGeom prst="rect">
            <a:avLst/>
          </a:prstGeom>
          <a:noFill/>
          <a:ln/>
        </p:spPr>
        <p:txBody>
          <a:bodyPr wrap="square" lIns="0" tIns="0" rIns="0" bIns="0" rtlCol="0"/>
          <a:lstStyle/>
          <a:p>
            <a:pPr marL="0" indent="0" algn="l">
              <a:buNone/>
            </a:pPr>
            <a:r>
              <a:rPr lang="en-US" sz="3000" b="1" dirty="0">
                <a:solidFill>
                  <a:srgbClr val="1E2761"/>
                </a:solidFill>
                <a:latin typeface="Cambria" pitchFamily="34" charset="0"/>
                <a:ea typeface="Cambria" pitchFamily="34" charset="-122"/>
                <a:cs typeface="Cambria" pitchFamily="34" charset="-120"/>
              </a:rPr>
              <a:t>Hallazgos Críticos</a:t>
            </a:r>
            <a:endParaRPr lang="en-US" sz="3000" dirty="0"/>
          </a:p>
        </p:txBody>
      </p:sp>
      <p:sp>
        <p:nvSpPr>
          <p:cNvPr id="3" name="Text 1"/>
          <p:cNvSpPr/>
          <p:nvPr/>
        </p:nvSpPr>
        <p:spPr>
          <a:xfrm>
            <a:off x="548640" y="1234440"/>
            <a:ext cx="7315200" cy="274320"/>
          </a:xfrm>
          <a:prstGeom prst="rect">
            <a:avLst/>
          </a:prstGeom>
          <a:noFill/>
          <a:ln/>
        </p:spPr>
        <p:txBody>
          <a:bodyPr wrap="square" lIns="0" tIns="0" rIns="0" bIns="0" rtlCol="0" anchor="ctr"/>
          <a:lstStyle/>
          <a:p>
            <a:pPr marL="0" indent="0">
              <a:buNone/>
            </a:pPr>
            <a:r>
              <a:rPr lang="en-US" sz="1200" b="1" kern="0" spc="150" dirty="0">
                <a:solidFill>
                  <a:srgbClr val="C1272D"/>
                </a:solidFill>
                <a:latin typeface="Calibri" pitchFamily="34" charset="0"/>
                <a:ea typeface="Calibri" pitchFamily="34" charset="-122"/>
                <a:cs typeface="Calibri" pitchFamily="34" charset="-120"/>
              </a:rPr>
              <a:t>PRINCIPALES VULNERABILIDADES IDENTIFICADAS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4206240"/>
        </p:xfrm>
        <a:graphic>
          <a:graphicData uri="http://schemas.openxmlformats.org/drawingml/2006/table">
            <a:tbl>
              <a:tblPr/>
              <a:tblGrid>
                <a:gridCol w="91440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70104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marL="127000" marR="1270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HALLAZGO</a:t>
                      </a:r>
                      <a:endParaRPr lang="en-US" sz="1100" dirty="0">
                        <a:latin typeface="Calibri" charset="0"/>
                        <a:ea typeface="Calibri" charset="0"/>
                        <a:cs typeface="Calibri" charset="0"/>
                      </a:endParaRPr>
                    </a:p>
                  </a:txBody>
                  <a:tcPr marL="127000" marR="1270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SEVERIDAD</a:t>
                      </a:r>
                      <a:endParaRPr lang="en-US" sz="1100" dirty="0">
                        <a:latin typeface="Calibri" charset="0"/>
                        <a:ea typeface="Calibri" charset="0"/>
                        <a:cs typeface="Calibri" charset="0"/>
                      </a:endParaRPr>
                    </a:p>
                  </a:txBody>
                  <a:tcPr marL="127000" marR="1270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701040">
                <a:tc>
                  <a:txBody>
                    <a:bodyPr/>
                    <a:lstStyle/>
                    <a:p>
                      <a:pPr marL="0" indent="0" algn="ctr">
                        <a:buNone/>
                      </a:pPr>
                      <a:r>
                        <a:rPr lang="en-US" sz="1150" b="1" dirty="0">
                          <a:solidFill>
                            <a:srgbClr val="1E2761"/>
                          </a:solidFill>
                          <a:latin typeface="Calibri" pitchFamily="34" charset="0"/>
                          <a:ea typeface="Calibri" pitchFamily="34" charset="-122"/>
                          <a:cs typeface="Calibri" pitchFamily="34" charset="-120"/>
                        </a:rPr>
                        <a:t>F-03</a:t>
                      </a:r>
                      <a:endParaRPr lang="en-US" sz="1150" dirty="0">
                        <a:latin typeface="Calibri" charset="0"/>
                        <a:ea typeface="Calibri" charset="0"/>
                        <a:cs typeface="Calibri" charset="0"/>
                      </a:endParaRPr>
                    </a:p>
                  </a:txBody>
                  <a:tcPr marL="127000" marR="1270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150" dirty="0">
                          <a:solidFill>
                            <a:srgbClr val="1E2761"/>
                          </a:solidFill>
                          <a:latin typeface="Calibri" pitchFamily="34" charset="0"/>
                          <a:ea typeface="Calibri" pitchFamily="34" charset="-122"/>
                          <a:cs typeface="Calibri" pitchFamily="34" charset="-120"/>
                        </a:rPr>
                        <a:t>Credenciales en texto plano expuestas vía /readme.txt</a:t>
                      </a:r>
                      <a:endParaRPr lang="en-US" sz="1150" dirty="0">
                        <a:latin typeface="Calibri" charset="0"/>
                        <a:ea typeface="Calibri" charset="0"/>
                        <a:cs typeface="Calibri" charset="0"/>
                      </a:endParaRPr>
                    </a:p>
                  </a:txBody>
                  <a:tcPr marL="127000" marR="1270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C1272D"/>
                          </a:solidFill>
                          <a:latin typeface="Calibri" pitchFamily="34" charset="0"/>
                          <a:ea typeface="Calibri" pitchFamily="34" charset="-122"/>
                          <a:cs typeface="Calibri" pitchFamily="34" charset="-120"/>
                        </a:rPr>
                        <a:t>Crítica</a:t>
                      </a:r>
                      <a:endParaRPr lang="en-US" sz="1150" dirty="0">
                        <a:latin typeface="Calibri" charset="0"/>
                        <a:ea typeface="Calibri" charset="0"/>
                        <a:cs typeface="Calibri" charset="0"/>
                      </a:endParaRPr>
                    </a:p>
                  </a:txBody>
                  <a:tcPr marL="127000" marR="1270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1040">
                <a:tc>
                  <a:txBody>
                    <a:bodyPr/>
                    <a:lstStyle/>
                    <a:p>
                      <a:pPr marL="0" indent="0" algn="ctr">
                        <a:buNone/>
                      </a:pPr>
                      <a:r>
                        <a:rPr lang="en-US" sz="1150" b="1" dirty="0">
                          <a:solidFill>
                            <a:srgbClr val="1E2761"/>
                          </a:solidFill>
                          <a:latin typeface="Calibri" pitchFamily="34" charset="0"/>
                          <a:ea typeface="Calibri" pitchFamily="34" charset="-122"/>
                          <a:cs typeface="Calibri" pitchFamily="34" charset="-120"/>
                        </a:rPr>
                        <a:t>F-04</a:t>
                      </a:r>
                      <a:endParaRPr lang="en-US" sz="1150" dirty="0">
                        <a:latin typeface="Calibri" charset="0"/>
                        <a:ea typeface="Calibri" charset="0"/>
                        <a:cs typeface="Calibri" charset="0"/>
                      </a:endParaRPr>
                    </a:p>
                  </a:txBody>
                  <a:tcPr marL="127000" marR="1270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1FB"/>
                    </a:solidFill>
                  </a:tcPr>
                </a:tc>
                <a:tc>
                  <a:txBody>
                    <a:bodyPr/>
                    <a:lstStyle/>
                    <a:p>
                      <a:pPr marL="0" indent="0">
                        <a:buNone/>
                      </a:pPr>
                      <a:r>
                        <a:rPr lang="en-US" sz="1150" dirty="0">
                          <a:solidFill>
                            <a:srgbClr val="1E2761"/>
                          </a:solidFill>
                          <a:latin typeface="Calibri" pitchFamily="34" charset="0"/>
                          <a:ea typeface="Calibri" pitchFamily="34" charset="-122"/>
                          <a:cs typeface="Calibri" pitchFamily="34" charset="-120"/>
                        </a:rPr>
                        <a:t>Escritura FTP/SMB sobre ~/.ssh — persistencia vía llave SSH</a:t>
                      </a:r>
                      <a:endParaRPr lang="en-US" sz="1150" dirty="0">
                        <a:latin typeface="Calibri" charset="0"/>
                        <a:ea typeface="Calibri" charset="0"/>
                        <a:cs typeface="Calibri" charset="0"/>
                      </a:endParaRPr>
                    </a:p>
                  </a:txBody>
                  <a:tcPr marL="127000" marR="1270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1FB"/>
                    </a:solidFill>
                  </a:tcPr>
                </a:tc>
                <a:tc>
                  <a:txBody>
                    <a:bodyPr/>
                    <a:lstStyle/>
                    <a:p>
                      <a:pPr marL="0" indent="0" algn="ctr">
                        <a:buNone/>
                      </a:pPr>
                      <a:r>
                        <a:rPr lang="en-US" sz="1150" b="1" dirty="0">
                          <a:solidFill>
                            <a:srgbClr val="C1272D"/>
                          </a:solidFill>
                          <a:latin typeface="Calibri" pitchFamily="34" charset="0"/>
                          <a:ea typeface="Calibri" pitchFamily="34" charset="-122"/>
                          <a:cs typeface="Calibri" pitchFamily="34" charset="-120"/>
                        </a:rPr>
                        <a:t>Crítica</a:t>
                      </a:r>
                      <a:endParaRPr lang="en-US" sz="1150" dirty="0">
                        <a:latin typeface="Calibri" charset="0"/>
                        <a:ea typeface="Calibri" charset="0"/>
                        <a:cs typeface="Calibri" charset="0"/>
                      </a:endParaRPr>
                    </a:p>
                  </a:txBody>
                  <a:tcPr marL="127000" marR="1270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1FB"/>
                    </a:solidFill>
                  </a:tcPr>
                </a:tc>
                <a:extLst>
                  <a:ext uri="{0D108BD9-81ED-4DB2-BD59-A6C34878D82A}">
                    <a16:rowId xmlns:a16="http://schemas.microsoft.com/office/drawing/2014/main" val="10002"/>
                  </a:ext>
                </a:extLst>
              </a:tr>
              <a:tr h="701040">
                <a:tc>
                  <a:txBody>
                    <a:bodyPr/>
                    <a:lstStyle/>
                    <a:p>
                      <a:pPr marL="0" indent="0" algn="ctr">
                        <a:buNone/>
                      </a:pPr>
                      <a:r>
                        <a:rPr lang="en-US" sz="1150" b="1" dirty="0">
                          <a:solidFill>
                            <a:srgbClr val="1E2761"/>
                          </a:solidFill>
                          <a:latin typeface="Calibri" pitchFamily="34" charset="0"/>
                          <a:ea typeface="Calibri" pitchFamily="34" charset="-122"/>
                          <a:cs typeface="Calibri" pitchFamily="34" charset="-120"/>
                        </a:rPr>
                        <a:t>F-05</a:t>
                      </a:r>
                      <a:endParaRPr lang="en-US" sz="1150" dirty="0">
                        <a:latin typeface="Calibri" charset="0"/>
                        <a:ea typeface="Calibri" charset="0"/>
                        <a:cs typeface="Calibri" charset="0"/>
                      </a:endParaRPr>
                    </a:p>
                  </a:txBody>
                  <a:tcPr marL="127000" marR="1270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150" dirty="0">
                          <a:solidFill>
                            <a:srgbClr val="1E2761"/>
                          </a:solidFill>
                          <a:latin typeface="Calibri" pitchFamily="34" charset="0"/>
                          <a:ea typeface="Calibri" pitchFamily="34" charset="-122"/>
                          <a:cs typeface="Calibri" pitchFamily="34" charset="-120"/>
                        </a:rPr>
                        <a:t>Kernel sin parchar — CVE-2016-5195 (Dirty COW)</a:t>
                      </a:r>
                      <a:endParaRPr lang="en-US" sz="1150" dirty="0">
                        <a:latin typeface="Calibri" charset="0"/>
                        <a:ea typeface="Calibri" charset="0"/>
                        <a:cs typeface="Calibri" charset="0"/>
                      </a:endParaRPr>
                    </a:p>
                  </a:txBody>
                  <a:tcPr marL="127000" marR="1270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C1272D"/>
                          </a:solidFill>
                          <a:latin typeface="Calibri" pitchFamily="34" charset="0"/>
                          <a:ea typeface="Calibri" pitchFamily="34" charset="-122"/>
                          <a:cs typeface="Calibri" pitchFamily="34" charset="-120"/>
                        </a:rPr>
                        <a:t>Crítica</a:t>
                      </a:r>
                      <a:endParaRPr lang="en-US" sz="1150" dirty="0">
                        <a:latin typeface="Calibri" charset="0"/>
                        <a:ea typeface="Calibri" charset="0"/>
                        <a:cs typeface="Calibri" charset="0"/>
                      </a:endParaRPr>
                    </a:p>
                  </a:txBody>
                  <a:tcPr marL="127000" marR="1270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01040">
                <a:tc>
                  <a:txBody>
                    <a:bodyPr/>
                    <a:lstStyle/>
                    <a:p>
                      <a:pPr marL="0" indent="0" algn="ctr">
                        <a:buNone/>
                      </a:pPr>
                      <a:r>
                        <a:rPr lang="en-US" sz="1150" b="1" dirty="0">
                          <a:solidFill>
                            <a:srgbClr val="1E2761"/>
                          </a:solidFill>
                          <a:latin typeface="Calibri" pitchFamily="34" charset="0"/>
                          <a:ea typeface="Calibri" pitchFamily="34" charset="-122"/>
                          <a:cs typeface="Calibri" pitchFamily="34" charset="-120"/>
                        </a:rPr>
                        <a:t>F-02</a:t>
                      </a:r>
                      <a:endParaRPr lang="en-US" sz="1150" dirty="0">
                        <a:latin typeface="Calibri" charset="0"/>
                        <a:ea typeface="Calibri" charset="0"/>
                        <a:cs typeface="Calibri" charset="0"/>
                      </a:endParaRPr>
                    </a:p>
                  </a:txBody>
                  <a:tcPr marL="127000" marR="1270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1FB"/>
                    </a:solidFill>
                  </a:tcPr>
                </a:tc>
                <a:tc>
                  <a:txBody>
                    <a:bodyPr/>
                    <a:lstStyle/>
                    <a:p>
                      <a:pPr marL="0" indent="0">
                        <a:buNone/>
                      </a:pPr>
                      <a:r>
                        <a:rPr lang="en-US" sz="1150" dirty="0">
                          <a:solidFill>
                            <a:srgbClr val="1E2761"/>
                          </a:solidFill>
                          <a:latin typeface="Calibri" pitchFamily="34" charset="0"/>
                          <a:ea typeface="Calibri" pitchFamily="34" charset="-122"/>
                          <a:cs typeface="Calibri" pitchFamily="34" charset="-120"/>
                        </a:rPr>
                        <a:t>FTP anónimo habilitado con directorio pub de escritura mundial</a:t>
                      </a:r>
                      <a:endParaRPr lang="en-US" sz="1150" dirty="0">
                        <a:latin typeface="Calibri" charset="0"/>
                        <a:ea typeface="Calibri" charset="0"/>
                        <a:cs typeface="Calibri" charset="0"/>
                      </a:endParaRPr>
                    </a:p>
                  </a:txBody>
                  <a:tcPr marL="127000" marR="1270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1FB"/>
                    </a:solidFill>
                  </a:tcPr>
                </a:tc>
                <a:tc>
                  <a:txBody>
                    <a:bodyPr/>
                    <a:lstStyle/>
                    <a:p>
                      <a:pPr marL="0" indent="0" algn="ctr">
                        <a:buNone/>
                      </a:pPr>
                      <a:r>
                        <a:rPr lang="en-US" sz="1150" b="1" dirty="0">
                          <a:solidFill>
                            <a:srgbClr val="D99A00"/>
                          </a:solidFill>
                          <a:latin typeface="Calibri" pitchFamily="34" charset="0"/>
                          <a:ea typeface="Calibri" pitchFamily="34" charset="-122"/>
                          <a:cs typeface="Calibri" pitchFamily="34" charset="-120"/>
                        </a:rPr>
                        <a:t>Alta</a:t>
                      </a:r>
                      <a:endParaRPr lang="en-US" sz="1150" dirty="0">
                        <a:latin typeface="Calibri" charset="0"/>
                        <a:ea typeface="Calibri" charset="0"/>
                        <a:cs typeface="Calibri" charset="0"/>
                      </a:endParaRPr>
                    </a:p>
                  </a:txBody>
                  <a:tcPr marL="127000" marR="1270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1FB"/>
                    </a:solidFill>
                  </a:tcPr>
                </a:tc>
                <a:extLst>
                  <a:ext uri="{0D108BD9-81ED-4DB2-BD59-A6C34878D82A}">
                    <a16:rowId xmlns:a16="http://schemas.microsoft.com/office/drawing/2014/main" val="10004"/>
                  </a:ext>
                </a:extLst>
              </a:tr>
              <a:tr h="701040">
                <a:tc>
                  <a:txBody>
                    <a:bodyPr/>
                    <a:lstStyle/>
                    <a:p>
                      <a:pPr marL="0" indent="0" algn="ctr">
                        <a:buNone/>
                      </a:pPr>
                      <a:r>
                        <a:rPr lang="en-US" sz="1150" b="1" dirty="0">
                          <a:solidFill>
                            <a:srgbClr val="1E2761"/>
                          </a:solidFill>
                          <a:latin typeface="Calibri" pitchFamily="34" charset="0"/>
                          <a:ea typeface="Calibri" pitchFamily="34" charset="-122"/>
                          <a:cs typeface="Calibri" pitchFamily="34" charset="-120"/>
                        </a:rPr>
                        <a:t>F-01</a:t>
                      </a:r>
                      <a:endParaRPr lang="en-US" sz="1150" dirty="0">
                        <a:latin typeface="Calibri" charset="0"/>
                        <a:ea typeface="Calibri" charset="0"/>
                        <a:cs typeface="Calibri" charset="0"/>
                      </a:endParaRPr>
                    </a:p>
                  </a:txBody>
                  <a:tcPr marL="127000" marR="1270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150" dirty="0">
                          <a:solidFill>
                            <a:srgbClr val="1E2761"/>
                          </a:solidFill>
                          <a:latin typeface="Calibri" pitchFamily="34" charset="0"/>
                          <a:ea typeface="Calibri" pitchFamily="34" charset="-122"/>
                          <a:cs typeface="Calibri" pitchFamily="34" charset="-120"/>
                        </a:rPr>
                        <a:t>Servicios redundantes/innecesarios expuestos sin segmentación</a:t>
                      </a:r>
                      <a:endParaRPr lang="en-US" sz="1150" dirty="0">
                        <a:latin typeface="Calibri" charset="0"/>
                        <a:ea typeface="Calibri" charset="0"/>
                        <a:cs typeface="Calibri" charset="0"/>
                      </a:endParaRPr>
                    </a:p>
                  </a:txBody>
                  <a:tcPr marL="127000" marR="1270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3B4C86"/>
                          </a:solidFill>
                          <a:latin typeface="Calibri" pitchFamily="34" charset="0"/>
                          <a:ea typeface="Calibri" pitchFamily="34" charset="-122"/>
                          <a:cs typeface="Calibri" pitchFamily="34" charset="-120"/>
                        </a:rPr>
                        <a:t>Media</a:t>
                      </a:r>
                      <a:endParaRPr lang="en-US" sz="1150" dirty="0">
                        <a:latin typeface="Calibri" charset="0"/>
                        <a:ea typeface="Calibri" charset="0"/>
                        <a:cs typeface="Calibri" charset="0"/>
                      </a:endParaRPr>
                    </a:p>
                  </a:txBody>
                  <a:tcPr marL="127000" marR="1270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548640" y="6035040"/>
            <a:ext cx="11064240" cy="457200"/>
          </a:xfrm>
          <a:prstGeom prst="rect">
            <a:avLst/>
          </a:prstGeom>
          <a:noFill/>
          <a:ln/>
        </p:spPr>
        <p:txBody>
          <a:bodyPr wrap="square" lIns="0" tIns="0" rIns="0" bIns="0" rtlCol="0" anchor="ctr"/>
          <a:lstStyle/>
          <a:p>
            <a:pPr marL="0" indent="0">
              <a:buNone/>
            </a:pPr>
            <a:r>
              <a:rPr lang="en-US" sz="1050" i="1" dirty="0">
                <a:solidFill>
                  <a:srgbClr val="8A9BC4"/>
                </a:solidFill>
                <a:latin typeface="Calibri" pitchFamily="34" charset="0"/>
                <a:ea typeface="Calibri" pitchFamily="34" charset="-122"/>
                <a:cs typeface="Calibri" pitchFamily="34" charset="-120"/>
              </a:rPr>
              <a:t>La cadena de explotación combinó fallas de configuración de bajo esfuerzo con una vulnerabilidad crítica de kernel sin parchar, demostrando que hallazgos de severidad media pueden derivar en un impacto catastrófico cuando no se atienden en conjunto.</a:t>
            </a:r>
            <a:endParaRPr lang="en-US" sz="1050" dirty="0"/>
          </a:p>
        </p:txBody>
      </p:sp>
      <p:sp>
        <p:nvSpPr>
          <p:cNvPr id="25" name="Slide Number Placeholder 0"/>
          <p:cNvSpPr>
            <a:spLocks noGrp="1"/>
          </p:cNvSpPr>
          <p:nvPr>
            <p:ph type="sldNum" sz="quarter" idx="4294967295"/>
          </p:nvPr>
        </p:nvSpPr>
        <p:spPr>
          <a:xfrm>
            <a:off x="1152144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BC4"/>
                </a:solidFill>
                <a:latin typeface="Calibri"/>
                <a:ea typeface="Calibri"/>
                <a:cs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64240" cy="731520"/>
          </a:xfrm>
          <a:prstGeom prst="rect">
            <a:avLst/>
          </a:prstGeom>
          <a:noFill/>
          <a:ln/>
        </p:spPr>
        <p:txBody>
          <a:bodyPr wrap="square" lIns="0" tIns="0" rIns="0" bIns="0" rtlCol="0"/>
          <a:lstStyle/>
          <a:p>
            <a:pPr marL="0" indent="0" algn="l">
              <a:buNone/>
            </a:pPr>
            <a:r>
              <a:rPr lang="en-US" sz="3000" b="1" dirty="0">
                <a:solidFill>
                  <a:srgbClr val="1E2761"/>
                </a:solidFill>
                <a:latin typeface="Cambria" pitchFamily="34" charset="0"/>
                <a:ea typeface="Cambria" pitchFamily="34" charset="-122"/>
                <a:cs typeface="Cambria" pitchFamily="34" charset="-120"/>
              </a:rPr>
              <a:t>Escenario del Impacto Empresarial</a:t>
            </a:r>
            <a:endParaRPr lang="en-US" sz="3000" dirty="0"/>
          </a:p>
        </p:txBody>
      </p:sp>
      <p:sp>
        <p:nvSpPr>
          <p:cNvPr id="3" name="Text 1"/>
          <p:cNvSpPr/>
          <p:nvPr/>
        </p:nvSpPr>
        <p:spPr>
          <a:xfrm>
            <a:off x="548640" y="1234440"/>
            <a:ext cx="7315200" cy="274320"/>
          </a:xfrm>
          <a:prstGeom prst="rect">
            <a:avLst/>
          </a:prstGeom>
          <a:noFill/>
          <a:ln/>
        </p:spPr>
        <p:txBody>
          <a:bodyPr wrap="square" lIns="0" tIns="0" rIns="0" bIns="0" rtlCol="0" anchor="ctr"/>
          <a:lstStyle/>
          <a:p>
            <a:pPr marL="0" indent="0">
              <a:buNone/>
            </a:pPr>
            <a:r>
              <a:rPr lang="en-US" sz="1200" b="1" kern="0" spc="150" dirty="0">
                <a:solidFill>
                  <a:srgbClr val="C1272D"/>
                </a:solidFill>
                <a:latin typeface="Calibri" pitchFamily="34" charset="0"/>
                <a:ea typeface="Calibri" pitchFamily="34" charset="-122"/>
                <a:cs typeface="Calibri" pitchFamily="34" charset="-120"/>
              </a:rPr>
              <a:t>ANÁLISIS DE IMPACTO — MODELO CIA</a:t>
            </a:r>
            <a:endParaRPr lang="en-US" sz="1200" dirty="0"/>
          </a:p>
        </p:txBody>
      </p:sp>
      <p:sp>
        <p:nvSpPr>
          <p:cNvPr id="4" name="Shape 2"/>
          <p:cNvSpPr/>
          <p:nvPr/>
        </p:nvSpPr>
        <p:spPr>
          <a:xfrm>
            <a:off x="548640" y="1691640"/>
            <a:ext cx="3566160" cy="2286000"/>
          </a:xfrm>
          <a:prstGeom prst="roundRect">
            <a:avLst>
              <a:gd name="adj" fmla="val 3200"/>
            </a:avLst>
          </a:prstGeom>
          <a:solidFill>
            <a:srgbClr val="1E2761"/>
          </a:solidFill>
          <a:ln/>
        </p:spPr>
        <p:txBody>
          <a:bodyPr/>
          <a:lstStyle/>
          <a:p>
            <a:endParaRPr lang="es-MX"/>
          </a:p>
        </p:txBody>
      </p:sp>
      <p:sp>
        <p:nvSpPr>
          <p:cNvPr id="5" name="Text 3"/>
          <p:cNvSpPr/>
          <p:nvPr/>
        </p:nvSpPr>
        <p:spPr>
          <a:xfrm>
            <a:off x="777240" y="1874520"/>
            <a:ext cx="3108960" cy="274320"/>
          </a:xfrm>
          <a:prstGeom prst="rect">
            <a:avLst/>
          </a:prstGeom>
          <a:noFill/>
          <a:ln/>
        </p:spPr>
        <p:txBody>
          <a:bodyPr wrap="square" lIns="0" tIns="0" rIns="0" bIns="0" rtlCol="0" anchor="ctr"/>
          <a:lstStyle/>
          <a:p>
            <a:pPr marL="0" indent="0">
              <a:buNone/>
            </a:pPr>
            <a:r>
              <a:rPr lang="en-US" sz="1000" b="1" kern="0" spc="100" dirty="0">
                <a:solidFill>
                  <a:srgbClr val="CADCFC"/>
                </a:solidFill>
                <a:latin typeface="Calibri" pitchFamily="34" charset="0"/>
                <a:ea typeface="Calibri" pitchFamily="34" charset="-122"/>
                <a:cs typeface="Calibri" pitchFamily="34" charset="-120"/>
              </a:rPr>
              <a:t>CONFIDENCIALIDAD</a:t>
            </a:r>
            <a:endParaRPr lang="en-US" sz="1000" dirty="0"/>
          </a:p>
        </p:txBody>
      </p:sp>
      <p:sp>
        <p:nvSpPr>
          <p:cNvPr id="6" name="Text 4"/>
          <p:cNvSpPr/>
          <p:nvPr/>
        </p:nvSpPr>
        <p:spPr>
          <a:xfrm>
            <a:off x="777240" y="2194560"/>
            <a:ext cx="3108960" cy="502920"/>
          </a:xfrm>
          <a:prstGeom prst="rect">
            <a:avLst/>
          </a:prstGeom>
          <a:noFill/>
          <a:ln/>
        </p:spPr>
        <p:txBody>
          <a:bodyPr wrap="square" lIns="0" tIns="0" rIns="0" bIns="0" rtlCol="0" anchor="ctr"/>
          <a:lstStyle/>
          <a:p>
            <a:pPr marL="0" indent="0">
              <a:buNone/>
            </a:pPr>
            <a:r>
              <a:rPr lang="en-US" sz="2400" b="1" dirty="0">
                <a:solidFill>
                  <a:srgbClr val="C1272D"/>
                </a:solidFill>
                <a:latin typeface="Cambria" pitchFamily="34" charset="0"/>
                <a:ea typeface="Cambria" pitchFamily="34" charset="-122"/>
                <a:cs typeface="Cambria" pitchFamily="34" charset="-120"/>
              </a:rPr>
              <a:t>Alto</a:t>
            </a:r>
            <a:endParaRPr lang="en-US" sz="2400" dirty="0"/>
          </a:p>
        </p:txBody>
      </p:sp>
      <p:sp>
        <p:nvSpPr>
          <p:cNvPr id="7" name="Text 5"/>
          <p:cNvSpPr/>
          <p:nvPr/>
        </p:nvSpPr>
        <p:spPr>
          <a:xfrm>
            <a:off x="777240" y="2834640"/>
            <a:ext cx="3108960" cy="1051560"/>
          </a:xfrm>
          <a:prstGeom prst="rect">
            <a:avLst/>
          </a:prstGeom>
          <a:noFill/>
          <a:ln/>
        </p:spPr>
        <p:txBody>
          <a:bodyPr wrap="square" lIns="0" tIns="0" rIns="0" bIns="0" rtlCol="0" anchor="ctr"/>
          <a:lstStyle/>
          <a:p>
            <a:pPr marL="0" indent="0">
              <a:lnSpc>
                <a:spcPct val="125000"/>
              </a:lnSpc>
              <a:buNone/>
            </a:pPr>
            <a:r>
              <a:rPr lang="en-US" sz="1050" dirty="0">
                <a:solidFill>
                  <a:srgbClr val="FFFFFF"/>
                </a:solidFill>
                <a:latin typeface="Calibri" pitchFamily="34" charset="0"/>
                <a:ea typeface="Calibri" pitchFamily="34" charset="-122"/>
                <a:cs typeface="Calibri" pitchFamily="34" charset="-120"/>
              </a:rPr>
              <a:t>Acceso root a todo el sistema de archivos; fuga activa de credenciales en texto plano vía el servicio web.</a:t>
            </a:r>
            <a:endParaRPr lang="en-US" sz="1050" dirty="0"/>
          </a:p>
        </p:txBody>
      </p:sp>
      <p:sp>
        <p:nvSpPr>
          <p:cNvPr id="8" name="Shape 6"/>
          <p:cNvSpPr/>
          <p:nvPr/>
        </p:nvSpPr>
        <p:spPr>
          <a:xfrm>
            <a:off x="4297680" y="1691640"/>
            <a:ext cx="3566160" cy="2286000"/>
          </a:xfrm>
          <a:prstGeom prst="roundRect">
            <a:avLst>
              <a:gd name="adj" fmla="val 3200"/>
            </a:avLst>
          </a:prstGeom>
          <a:solidFill>
            <a:srgbClr val="1E2761"/>
          </a:solidFill>
          <a:ln/>
        </p:spPr>
        <p:txBody>
          <a:bodyPr/>
          <a:lstStyle/>
          <a:p>
            <a:endParaRPr lang="es-MX"/>
          </a:p>
        </p:txBody>
      </p:sp>
      <p:sp>
        <p:nvSpPr>
          <p:cNvPr id="9" name="Text 7"/>
          <p:cNvSpPr/>
          <p:nvPr/>
        </p:nvSpPr>
        <p:spPr>
          <a:xfrm>
            <a:off x="4526280" y="1874520"/>
            <a:ext cx="3108960" cy="274320"/>
          </a:xfrm>
          <a:prstGeom prst="rect">
            <a:avLst/>
          </a:prstGeom>
          <a:noFill/>
          <a:ln/>
        </p:spPr>
        <p:txBody>
          <a:bodyPr wrap="square" lIns="0" tIns="0" rIns="0" bIns="0" rtlCol="0" anchor="ctr"/>
          <a:lstStyle/>
          <a:p>
            <a:pPr marL="0" indent="0">
              <a:buNone/>
            </a:pPr>
            <a:r>
              <a:rPr lang="en-US" sz="1000" b="1" kern="0" spc="100" dirty="0">
                <a:solidFill>
                  <a:srgbClr val="CADCFC"/>
                </a:solidFill>
                <a:latin typeface="Calibri" pitchFamily="34" charset="0"/>
                <a:ea typeface="Calibri" pitchFamily="34" charset="-122"/>
                <a:cs typeface="Calibri" pitchFamily="34" charset="-120"/>
              </a:rPr>
              <a:t>INTEGRIDAD</a:t>
            </a:r>
            <a:endParaRPr lang="en-US" sz="1000" dirty="0"/>
          </a:p>
        </p:txBody>
      </p:sp>
      <p:sp>
        <p:nvSpPr>
          <p:cNvPr id="10" name="Text 8"/>
          <p:cNvSpPr/>
          <p:nvPr/>
        </p:nvSpPr>
        <p:spPr>
          <a:xfrm>
            <a:off x="4526280" y="2194560"/>
            <a:ext cx="3108960" cy="502920"/>
          </a:xfrm>
          <a:prstGeom prst="rect">
            <a:avLst/>
          </a:prstGeom>
          <a:noFill/>
          <a:ln/>
        </p:spPr>
        <p:txBody>
          <a:bodyPr wrap="square" lIns="0" tIns="0" rIns="0" bIns="0" rtlCol="0" anchor="ctr"/>
          <a:lstStyle/>
          <a:p>
            <a:pPr marL="0" indent="0">
              <a:buNone/>
            </a:pPr>
            <a:r>
              <a:rPr lang="en-US" sz="2400" b="1" dirty="0">
                <a:solidFill>
                  <a:srgbClr val="C1272D"/>
                </a:solidFill>
                <a:latin typeface="Cambria" pitchFamily="34" charset="0"/>
                <a:ea typeface="Cambria" pitchFamily="34" charset="-122"/>
                <a:cs typeface="Cambria" pitchFamily="34" charset="-120"/>
              </a:rPr>
              <a:t>Alto</a:t>
            </a:r>
            <a:endParaRPr lang="en-US" sz="2400" dirty="0"/>
          </a:p>
        </p:txBody>
      </p:sp>
      <p:sp>
        <p:nvSpPr>
          <p:cNvPr id="11" name="Text 9"/>
          <p:cNvSpPr/>
          <p:nvPr/>
        </p:nvSpPr>
        <p:spPr>
          <a:xfrm>
            <a:off x="4526280" y="2834640"/>
            <a:ext cx="3108960" cy="1051560"/>
          </a:xfrm>
          <a:prstGeom prst="rect">
            <a:avLst/>
          </a:prstGeom>
          <a:noFill/>
          <a:ln/>
        </p:spPr>
        <p:txBody>
          <a:bodyPr wrap="square" lIns="0" tIns="0" rIns="0" bIns="0" rtlCol="0" anchor="ctr"/>
          <a:lstStyle/>
          <a:p>
            <a:pPr marL="0" indent="0">
              <a:lnSpc>
                <a:spcPct val="125000"/>
              </a:lnSpc>
              <a:buNone/>
            </a:pPr>
            <a:r>
              <a:rPr lang="en-US" sz="1050" dirty="0">
                <a:solidFill>
                  <a:srgbClr val="FFFFFF"/>
                </a:solidFill>
                <a:latin typeface="Calibri" pitchFamily="34" charset="0"/>
                <a:ea typeface="Calibri" pitchFamily="34" charset="-122"/>
                <a:cs typeface="Calibri" pitchFamily="34" charset="-120"/>
              </a:rPr>
              <a:t>Capacidad demostrada de escritura arbitraria sobre binarios del sistema (se sobrescribió /usr/bin/passwd).</a:t>
            </a:r>
            <a:endParaRPr lang="en-US" sz="1050" dirty="0"/>
          </a:p>
        </p:txBody>
      </p:sp>
      <p:sp>
        <p:nvSpPr>
          <p:cNvPr id="12" name="Shape 10"/>
          <p:cNvSpPr/>
          <p:nvPr/>
        </p:nvSpPr>
        <p:spPr>
          <a:xfrm>
            <a:off x="8046720" y="1691640"/>
            <a:ext cx="3566160" cy="2286000"/>
          </a:xfrm>
          <a:prstGeom prst="roundRect">
            <a:avLst>
              <a:gd name="adj" fmla="val 3200"/>
            </a:avLst>
          </a:prstGeom>
          <a:solidFill>
            <a:srgbClr val="1E2761"/>
          </a:solidFill>
          <a:ln/>
        </p:spPr>
        <p:txBody>
          <a:bodyPr/>
          <a:lstStyle/>
          <a:p>
            <a:endParaRPr lang="es-MX"/>
          </a:p>
        </p:txBody>
      </p:sp>
      <p:sp>
        <p:nvSpPr>
          <p:cNvPr id="13" name="Text 11"/>
          <p:cNvSpPr/>
          <p:nvPr/>
        </p:nvSpPr>
        <p:spPr>
          <a:xfrm>
            <a:off x="8275320" y="1874520"/>
            <a:ext cx="3108960" cy="274320"/>
          </a:xfrm>
          <a:prstGeom prst="rect">
            <a:avLst/>
          </a:prstGeom>
          <a:noFill/>
          <a:ln/>
        </p:spPr>
        <p:txBody>
          <a:bodyPr wrap="square" lIns="0" tIns="0" rIns="0" bIns="0" rtlCol="0" anchor="ctr"/>
          <a:lstStyle/>
          <a:p>
            <a:pPr marL="0" indent="0">
              <a:buNone/>
            </a:pPr>
            <a:r>
              <a:rPr lang="en-US" sz="1000" b="1" kern="0" spc="100" dirty="0">
                <a:solidFill>
                  <a:srgbClr val="CADCFC"/>
                </a:solidFill>
                <a:latin typeface="Calibri" pitchFamily="34" charset="0"/>
                <a:ea typeface="Calibri" pitchFamily="34" charset="-122"/>
                <a:cs typeface="Calibri" pitchFamily="34" charset="-120"/>
              </a:rPr>
              <a:t>DISPONIBILIDAD</a:t>
            </a:r>
            <a:endParaRPr lang="en-US" sz="1000" dirty="0"/>
          </a:p>
        </p:txBody>
      </p:sp>
      <p:sp>
        <p:nvSpPr>
          <p:cNvPr id="14" name="Text 12"/>
          <p:cNvSpPr/>
          <p:nvPr/>
        </p:nvSpPr>
        <p:spPr>
          <a:xfrm>
            <a:off x="8275320" y="2194560"/>
            <a:ext cx="3108960" cy="502920"/>
          </a:xfrm>
          <a:prstGeom prst="rect">
            <a:avLst/>
          </a:prstGeom>
          <a:noFill/>
          <a:ln/>
        </p:spPr>
        <p:txBody>
          <a:bodyPr wrap="square" lIns="0" tIns="0" rIns="0" bIns="0" rtlCol="0" anchor="ctr"/>
          <a:lstStyle/>
          <a:p>
            <a:pPr marL="0" indent="0">
              <a:buNone/>
            </a:pPr>
            <a:r>
              <a:rPr lang="en-US" sz="2400" b="1" dirty="0">
                <a:solidFill>
                  <a:srgbClr val="C1272D"/>
                </a:solidFill>
                <a:latin typeface="Cambria" pitchFamily="34" charset="0"/>
                <a:ea typeface="Cambria" pitchFamily="34" charset="-122"/>
                <a:cs typeface="Cambria" pitchFamily="34" charset="-120"/>
              </a:rPr>
              <a:t>Medio-Alto</a:t>
            </a:r>
            <a:endParaRPr lang="en-US" sz="2400" dirty="0"/>
          </a:p>
        </p:txBody>
      </p:sp>
      <p:sp>
        <p:nvSpPr>
          <p:cNvPr id="15" name="Text 13"/>
          <p:cNvSpPr/>
          <p:nvPr/>
        </p:nvSpPr>
        <p:spPr>
          <a:xfrm>
            <a:off x="8275320" y="2834640"/>
            <a:ext cx="3108960" cy="1051560"/>
          </a:xfrm>
          <a:prstGeom prst="rect">
            <a:avLst/>
          </a:prstGeom>
          <a:noFill/>
          <a:ln/>
        </p:spPr>
        <p:txBody>
          <a:bodyPr wrap="square" lIns="0" tIns="0" rIns="0" bIns="0" rtlCol="0" anchor="ctr"/>
          <a:lstStyle/>
          <a:p>
            <a:pPr marL="0" indent="0">
              <a:lnSpc>
                <a:spcPct val="125000"/>
              </a:lnSpc>
              <a:buNone/>
            </a:pPr>
            <a:r>
              <a:rPr lang="en-US" sz="1050" dirty="0">
                <a:solidFill>
                  <a:srgbClr val="FFFFFF"/>
                </a:solidFill>
                <a:latin typeface="Calibri" pitchFamily="34" charset="0"/>
                <a:ea typeface="Calibri" pitchFamily="34" charset="-122"/>
                <a:cs typeface="Calibri" pitchFamily="34" charset="-120"/>
              </a:rPr>
              <a:t>El acceso root habilita trivialmente detener servicios críticos (FTP, SMB, SSH, Apache) o eliminar datos.</a:t>
            </a:r>
            <a:endParaRPr lang="en-US" sz="1050" dirty="0"/>
          </a:p>
        </p:txBody>
      </p:sp>
      <p:sp>
        <p:nvSpPr>
          <p:cNvPr id="16" name="Text 14"/>
          <p:cNvSpPr/>
          <p:nvPr/>
        </p:nvSpPr>
        <p:spPr>
          <a:xfrm>
            <a:off x="548640" y="4251960"/>
            <a:ext cx="7315200" cy="274320"/>
          </a:xfrm>
          <a:prstGeom prst="rect">
            <a:avLst/>
          </a:prstGeom>
          <a:noFill/>
          <a:ln/>
        </p:spPr>
        <p:txBody>
          <a:bodyPr wrap="square" lIns="0" tIns="0" rIns="0" bIns="0" rtlCol="0" anchor="ctr"/>
          <a:lstStyle/>
          <a:p>
            <a:pPr marL="0" indent="0">
              <a:buNone/>
            </a:pPr>
            <a:r>
              <a:rPr lang="en-US" sz="1200" b="1" kern="0" spc="150" dirty="0">
                <a:solidFill>
                  <a:srgbClr val="C1272D"/>
                </a:solidFill>
                <a:latin typeface="Calibri" pitchFamily="34" charset="0"/>
                <a:ea typeface="Calibri" pitchFamily="34" charset="-122"/>
                <a:cs typeface="Calibri" pitchFamily="34" charset="-120"/>
              </a:rPr>
              <a:t>CONCLUSIÓN DEL ANÁLISIS CIA</a:t>
            </a:r>
            <a:endParaRPr lang="en-US" sz="1200" dirty="0"/>
          </a:p>
        </p:txBody>
      </p:sp>
      <p:sp>
        <p:nvSpPr>
          <p:cNvPr id="17" name="Shape 15"/>
          <p:cNvSpPr/>
          <p:nvPr/>
        </p:nvSpPr>
        <p:spPr>
          <a:xfrm>
            <a:off x="548640" y="4572000"/>
            <a:ext cx="11064240" cy="1188720"/>
          </a:xfrm>
          <a:prstGeom prst="roundRect">
            <a:avLst>
              <a:gd name="adj" fmla="val 6154"/>
            </a:avLst>
          </a:prstGeom>
          <a:solidFill>
            <a:srgbClr val="EEF1FB"/>
          </a:solidFill>
          <a:ln/>
        </p:spPr>
        <p:txBody>
          <a:bodyPr/>
          <a:lstStyle/>
          <a:p>
            <a:endParaRPr lang="es-MX"/>
          </a:p>
        </p:txBody>
      </p:sp>
      <p:sp>
        <p:nvSpPr>
          <p:cNvPr id="18" name="Text 16"/>
          <p:cNvSpPr/>
          <p:nvPr/>
        </p:nvSpPr>
        <p:spPr>
          <a:xfrm>
            <a:off x="822960" y="4572000"/>
            <a:ext cx="10515600" cy="1188720"/>
          </a:xfrm>
          <a:prstGeom prst="rect">
            <a:avLst/>
          </a:prstGeom>
          <a:noFill/>
          <a:ln/>
        </p:spPr>
        <p:txBody>
          <a:bodyPr wrap="square" lIns="0" tIns="0" rIns="0" bIns="0" rtlCol="0" anchor="ctr"/>
          <a:lstStyle/>
          <a:p>
            <a:pPr marL="0" indent="0">
              <a:lnSpc>
                <a:spcPct val="125000"/>
              </a:lnSpc>
              <a:buNone/>
            </a:pPr>
            <a:r>
              <a:rPr lang="en-US" sz="1400" b="1" i="1" dirty="0">
                <a:solidFill>
                  <a:srgbClr val="1E2761"/>
                </a:solidFill>
                <a:latin typeface="Calibri" pitchFamily="34" charset="0"/>
                <a:ea typeface="Calibri" pitchFamily="34" charset="-122"/>
                <a:cs typeface="Calibri" pitchFamily="34" charset="-120"/>
              </a:rPr>
              <a:t>El compromiso alcanzado representa el peor escenario posible dentro del modelo CIA para un solo activo: control total sobre las tres dimensiones de seguridad de la información.</a:t>
            </a:r>
            <a:endParaRPr lang="en-US" sz="1400" dirty="0"/>
          </a:p>
        </p:txBody>
      </p:sp>
      <p:sp>
        <p:nvSpPr>
          <p:cNvPr id="25" name="Slide Number Placeholder 0"/>
          <p:cNvSpPr>
            <a:spLocks noGrp="1"/>
          </p:cNvSpPr>
          <p:nvPr>
            <p:ph type="sldNum" sz="quarter" idx="4294967295"/>
          </p:nvPr>
        </p:nvSpPr>
        <p:spPr>
          <a:xfrm>
            <a:off x="1152144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BC4"/>
                </a:solidFill>
                <a:latin typeface="Calibri"/>
                <a:ea typeface="Calibri"/>
                <a:cs typeface="Calibr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64240" cy="731520"/>
          </a:xfrm>
          <a:prstGeom prst="rect">
            <a:avLst/>
          </a:prstGeom>
          <a:noFill/>
          <a:ln/>
        </p:spPr>
        <p:txBody>
          <a:bodyPr wrap="square" lIns="0" tIns="0" rIns="0" bIns="0" rtlCol="0"/>
          <a:lstStyle/>
          <a:p>
            <a:pPr marL="0" indent="0" algn="l">
              <a:buNone/>
            </a:pPr>
            <a:r>
              <a:rPr lang="en-US" sz="3000" b="1" dirty="0">
                <a:solidFill>
                  <a:srgbClr val="1E2761"/>
                </a:solidFill>
                <a:latin typeface="Cambria" pitchFamily="34" charset="0"/>
                <a:ea typeface="Cambria" pitchFamily="34" charset="-122"/>
                <a:cs typeface="Cambria" pitchFamily="34" charset="-120"/>
              </a:rPr>
              <a:t>Matriz de Riesgo</a:t>
            </a:r>
            <a:endParaRPr lang="en-US" sz="3000" dirty="0"/>
          </a:p>
        </p:txBody>
      </p:sp>
      <p:sp>
        <p:nvSpPr>
          <p:cNvPr id="3" name="Text 1"/>
          <p:cNvSpPr/>
          <p:nvPr/>
        </p:nvSpPr>
        <p:spPr>
          <a:xfrm>
            <a:off x="548640" y="1234440"/>
            <a:ext cx="7315200" cy="274320"/>
          </a:xfrm>
          <a:prstGeom prst="rect">
            <a:avLst/>
          </a:prstGeom>
          <a:noFill/>
          <a:ln/>
        </p:spPr>
        <p:txBody>
          <a:bodyPr wrap="square" lIns="0" tIns="0" rIns="0" bIns="0" rtlCol="0" anchor="ctr"/>
          <a:lstStyle/>
          <a:p>
            <a:pPr marL="0" indent="0">
              <a:buNone/>
            </a:pPr>
            <a:r>
              <a:rPr lang="en-US" sz="1200" b="1" kern="0" spc="150" dirty="0">
                <a:solidFill>
                  <a:srgbClr val="C1272D"/>
                </a:solidFill>
                <a:latin typeface="Calibri" pitchFamily="34" charset="0"/>
                <a:ea typeface="Calibri" pitchFamily="34" charset="-122"/>
                <a:cs typeface="Calibri" pitchFamily="34" charset="-120"/>
              </a:rPr>
              <a:t>SEVERIDAD DE HALLAZGOS Y PRIORIDAD DE ATENCIÓN</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4206240"/>
        </p:xfrm>
        <a:graphic>
          <a:graphicData uri="http://schemas.openxmlformats.org/drawingml/2006/table">
            <a:tbl>
              <a:tblPr/>
              <a:tblGrid>
                <a:gridCol w="17373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84124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SEVERIDAD</a:t>
                      </a:r>
                      <a:endParaRPr lang="en-US" sz="1050" dirty="0">
                        <a:latin typeface="Calibri" charset="0"/>
                        <a:ea typeface="Calibri" charset="0"/>
                        <a:cs typeface="Calibri" charset="0"/>
                      </a:endParaRPr>
                    </a:p>
                  </a:txBody>
                  <a:tcPr marL="101600" marR="1016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HALLAZGOS</a:t>
                      </a:r>
                      <a:endParaRPr lang="en-US" sz="1050" dirty="0">
                        <a:latin typeface="Calibri" charset="0"/>
                        <a:ea typeface="Calibri" charset="0"/>
                        <a:cs typeface="Calibri" charset="0"/>
                      </a:endParaRPr>
                    </a:p>
                  </a:txBody>
                  <a:tcPr marL="101600" marR="1016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DESCRIPCIÓN</a:t>
                      </a:r>
                      <a:endParaRPr lang="en-US" sz="1050" dirty="0">
                        <a:latin typeface="Calibri" charset="0"/>
                        <a:ea typeface="Calibri" charset="0"/>
                        <a:cs typeface="Calibri" charset="0"/>
                      </a:endParaRPr>
                    </a:p>
                  </a:txBody>
                  <a:tcPr marL="101600" marR="1016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PRIORIDAD</a:t>
                      </a:r>
                      <a:endParaRPr lang="en-US" sz="1050" dirty="0">
                        <a:latin typeface="Calibri" charset="0"/>
                        <a:ea typeface="Calibri" charset="0"/>
                        <a:cs typeface="Calibri" charset="0"/>
                      </a:endParaRPr>
                    </a:p>
                  </a:txBody>
                  <a:tcPr marL="101600" marR="1016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841248">
                <a:tc>
                  <a:txBody>
                    <a:bodyPr/>
                    <a:lstStyle/>
                    <a:p>
                      <a:pPr marL="0" indent="0">
                        <a:buNone/>
                      </a:pPr>
                      <a:r>
                        <a:rPr lang="en-US" sz="1050" b="1" dirty="0">
                          <a:solidFill>
                            <a:srgbClr val="C1272D"/>
                          </a:solidFill>
                          <a:latin typeface="Calibri" pitchFamily="34" charset="0"/>
                          <a:ea typeface="Calibri" pitchFamily="34" charset="-122"/>
                          <a:cs typeface="Calibri" pitchFamily="34" charset="-120"/>
                        </a:rPr>
                        <a:t>Crítica</a:t>
                      </a:r>
                      <a:endParaRPr lang="en-US" sz="1050" dirty="0">
                        <a:latin typeface="Calibri" charset="0"/>
                        <a:ea typeface="Calibri" charset="0"/>
                        <a:cs typeface="Calibri" charset="0"/>
                      </a:endParaRPr>
                    </a:p>
                  </a:txBody>
                  <a:tcPr marL="101600" marR="1016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50" b="1" dirty="0">
                          <a:solidFill>
                            <a:srgbClr val="1E2761"/>
                          </a:solidFill>
                          <a:latin typeface="Calibri" pitchFamily="34" charset="0"/>
                          <a:ea typeface="Calibri" pitchFamily="34" charset="-122"/>
                          <a:cs typeface="Calibri" pitchFamily="34" charset="-120"/>
                        </a:rPr>
                        <a:t>F-03, F-04, F-05</a:t>
                      </a:r>
                      <a:endParaRPr lang="en-US" sz="1050" dirty="0">
                        <a:latin typeface="Calibri" charset="0"/>
                        <a:ea typeface="Calibri" charset="0"/>
                        <a:cs typeface="Calibri" charset="0"/>
                      </a:endParaRPr>
                    </a:p>
                  </a:txBody>
                  <a:tcPr marL="101600" marR="1016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50" dirty="0">
                          <a:solidFill>
                            <a:srgbClr val="1E2761"/>
                          </a:solidFill>
                          <a:latin typeface="Calibri" pitchFamily="34" charset="0"/>
                          <a:ea typeface="Calibri" pitchFamily="34" charset="-122"/>
                          <a:cs typeface="Calibri" pitchFamily="34" charset="-120"/>
                        </a:rPr>
                        <a:t>Fuga de credenciales, persistencia SSH, Dirty COW</a:t>
                      </a:r>
                      <a:endParaRPr lang="en-US" sz="1050" dirty="0">
                        <a:latin typeface="Calibri" charset="0"/>
                        <a:ea typeface="Calibri" charset="0"/>
                        <a:cs typeface="Calibri" charset="0"/>
                      </a:endParaRPr>
                    </a:p>
                  </a:txBody>
                  <a:tcPr marL="101600" marR="1016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50" dirty="0">
                          <a:solidFill>
                            <a:srgbClr val="8A9BC4"/>
                          </a:solidFill>
                          <a:latin typeface="Calibri" pitchFamily="34" charset="0"/>
                          <a:ea typeface="Calibri" pitchFamily="34" charset="-122"/>
                          <a:cs typeface="Calibri" pitchFamily="34" charset="-120"/>
                        </a:rPr>
                        <a:t>Inmediata (0–48 h)</a:t>
                      </a:r>
                      <a:endParaRPr lang="en-US" sz="1050" dirty="0">
                        <a:latin typeface="Calibri" charset="0"/>
                        <a:ea typeface="Calibri" charset="0"/>
                        <a:cs typeface="Calibri" charset="0"/>
                      </a:endParaRPr>
                    </a:p>
                  </a:txBody>
                  <a:tcPr marL="101600" marR="1016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41248">
                <a:tc>
                  <a:txBody>
                    <a:bodyPr/>
                    <a:lstStyle/>
                    <a:p>
                      <a:pPr marL="0" indent="0">
                        <a:buNone/>
                      </a:pPr>
                      <a:r>
                        <a:rPr lang="en-US" sz="1050" b="1" dirty="0">
                          <a:solidFill>
                            <a:srgbClr val="D99A00"/>
                          </a:solidFill>
                          <a:latin typeface="Calibri" pitchFamily="34" charset="0"/>
                          <a:ea typeface="Calibri" pitchFamily="34" charset="-122"/>
                          <a:cs typeface="Calibri" pitchFamily="34" charset="-120"/>
                        </a:rPr>
                        <a:t>Alta</a:t>
                      </a:r>
                      <a:endParaRPr lang="en-US" sz="1050" dirty="0">
                        <a:latin typeface="Calibri" charset="0"/>
                        <a:ea typeface="Calibri" charset="0"/>
                        <a:cs typeface="Calibri" charset="0"/>
                      </a:endParaRPr>
                    </a:p>
                  </a:txBody>
                  <a:tcPr marL="101600" marR="1016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1FB"/>
                    </a:solidFill>
                  </a:tcPr>
                </a:tc>
                <a:tc>
                  <a:txBody>
                    <a:bodyPr/>
                    <a:lstStyle/>
                    <a:p>
                      <a:pPr marL="0" indent="0">
                        <a:buNone/>
                      </a:pPr>
                      <a:r>
                        <a:rPr lang="en-US" sz="1050" b="1" dirty="0">
                          <a:solidFill>
                            <a:srgbClr val="1E2761"/>
                          </a:solidFill>
                          <a:latin typeface="Calibri" pitchFamily="34" charset="0"/>
                          <a:ea typeface="Calibri" pitchFamily="34" charset="-122"/>
                          <a:cs typeface="Calibri" pitchFamily="34" charset="-120"/>
                        </a:rPr>
                        <a:t>F-02</a:t>
                      </a:r>
                      <a:endParaRPr lang="en-US" sz="1050" dirty="0">
                        <a:latin typeface="Calibri" charset="0"/>
                        <a:ea typeface="Calibri" charset="0"/>
                        <a:cs typeface="Calibri" charset="0"/>
                      </a:endParaRPr>
                    </a:p>
                  </a:txBody>
                  <a:tcPr marL="101600" marR="1016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1FB"/>
                    </a:solidFill>
                  </a:tcPr>
                </a:tc>
                <a:tc>
                  <a:txBody>
                    <a:bodyPr/>
                    <a:lstStyle/>
                    <a:p>
                      <a:pPr marL="0" indent="0">
                        <a:buNone/>
                      </a:pPr>
                      <a:r>
                        <a:rPr lang="en-US" sz="1050" dirty="0">
                          <a:solidFill>
                            <a:srgbClr val="1E2761"/>
                          </a:solidFill>
                          <a:latin typeface="Calibri" pitchFamily="34" charset="0"/>
                          <a:ea typeface="Calibri" pitchFamily="34" charset="-122"/>
                          <a:cs typeface="Calibri" pitchFamily="34" charset="-120"/>
                        </a:rPr>
                        <a:t>FTP anónimo con escritura mundial en pub</a:t>
                      </a:r>
                      <a:endParaRPr lang="en-US" sz="1050" dirty="0">
                        <a:latin typeface="Calibri" charset="0"/>
                        <a:ea typeface="Calibri" charset="0"/>
                        <a:cs typeface="Calibri" charset="0"/>
                      </a:endParaRPr>
                    </a:p>
                  </a:txBody>
                  <a:tcPr marL="101600" marR="1016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1FB"/>
                    </a:solidFill>
                  </a:tcPr>
                </a:tc>
                <a:tc>
                  <a:txBody>
                    <a:bodyPr/>
                    <a:lstStyle/>
                    <a:p>
                      <a:pPr marL="0" indent="0">
                        <a:buNone/>
                      </a:pPr>
                      <a:r>
                        <a:rPr lang="en-US" sz="1050" dirty="0">
                          <a:solidFill>
                            <a:srgbClr val="8A9BC4"/>
                          </a:solidFill>
                          <a:latin typeface="Calibri" pitchFamily="34" charset="0"/>
                          <a:ea typeface="Calibri" pitchFamily="34" charset="-122"/>
                          <a:cs typeface="Calibri" pitchFamily="34" charset="-120"/>
                        </a:rPr>
                        <a:t>Corto plazo (1–2 sem)</a:t>
                      </a:r>
                      <a:endParaRPr lang="en-US" sz="1050" dirty="0">
                        <a:latin typeface="Calibri" charset="0"/>
                        <a:ea typeface="Calibri" charset="0"/>
                        <a:cs typeface="Calibri" charset="0"/>
                      </a:endParaRPr>
                    </a:p>
                  </a:txBody>
                  <a:tcPr marL="101600" marR="1016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1FB"/>
                    </a:solidFill>
                  </a:tcPr>
                </a:tc>
                <a:extLst>
                  <a:ext uri="{0D108BD9-81ED-4DB2-BD59-A6C34878D82A}">
                    <a16:rowId xmlns:a16="http://schemas.microsoft.com/office/drawing/2014/main" val="10002"/>
                  </a:ext>
                </a:extLst>
              </a:tr>
              <a:tr h="841248">
                <a:tc>
                  <a:txBody>
                    <a:bodyPr/>
                    <a:lstStyle/>
                    <a:p>
                      <a:pPr marL="0" indent="0">
                        <a:buNone/>
                      </a:pPr>
                      <a:r>
                        <a:rPr lang="en-US" sz="1050" b="1" dirty="0">
                          <a:solidFill>
                            <a:srgbClr val="3B4C86"/>
                          </a:solidFill>
                          <a:latin typeface="Calibri" pitchFamily="34" charset="0"/>
                          <a:ea typeface="Calibri" pitchFamily="34" charset="-122"/>
                          <a:cs typeface="Calibri" pitchFamily="34" charset="-120"/>
                        </a:rPr>
                        <a:t>Media</a:t>
                      </a:r>
                      <a:endParaRPr lang="en-US" sz="1050" dirty="0">
                        <a:latin typeface="Calibri" charset="0"/>
                        <a:ea typeface="Calibri" charset="0"/>
                        <a:cs typeface="Calibri" charset="0"/>
                      </a:endParaRPr>
                    </a:p>
                  </a:txBody>
                  <a:tcPr marL="101600" marR="1016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50" b="1" dirty="0">
                          <a:solidFill>
                            <a:srgbClr val="1E2761"/>
                          </a:solidFill>
                          <a:latin typeface="Calibri" pitchFamily="34" charset="0"/>
                          <a:ea typeface="Calibri" pitchFamily="34" charset="-122"/>
                          <a:cs typeface="Calibri" pitchFamily="34" charset="-120"/>
                        </a:rPr>
                        <a:t>F-01</a:t>
                      </a:r>
                      <a:endParaRPr lang="en-US" sz="1050" dirty="0">
                        <a:latin typeface="Calibri" charset="0"/>
                        <a:ea typeface="Calibri" charset="0"/>
                        <a:cs typeface="Calibri" charset="0"/>
                      </a:endParaRPr>
                    </a:p>
                  </a:txBody>
                  <a:tcPr marL="101600" marR="1016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50" dirty="0">
                          <a:solidFill>
                            <a:srgbClr val="1E2761"/>
                          </a:solidFill>
                          <a:latin typeface="Calibri" pitchFamily="34" charset="0"/>
                          <a:ea typeface="Calibri" pitchFamily="34" charset="-122"/>
                          <a:cs typeface="Calibri" pitchFamily="34" charset="-120"/>
                        </a:rPr>
                        <a:t>Servicios redundantes sin segmentación</a:t>
                      </a:r>
                      <a:endParaRPr lang="en-US" sz="1050" dirty="0">
                        <a:latin typeface="Calibri" charset="0"/>
                        <a:ea typeface="Calibri" charset="0"/>
                        <a:cs typeface="Calibri" charset="0"/>
                      </a:endParaRPr>
                    </a:p>
                  </a:txBody>
                  <a:tcPr marL="101600" marR="1016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50" dirty="0">
                          <a:solidFill>
                            <a:srgbClr val="8A9BC4"/>
                          </a:solidFill>
                          <a:latin typeface="Calibri" pitchFamily="34" charset="0"/>
                          <a:ea typeface="Calibri" pitchFamily="34" charset="-122"/>
                          <a:cs typeface="Calibri" pitchFamily="34" charset="-120"/>
                        </a:rPr>
                        <a:t>Corto–mediano plazo</a:t>
                      </a:r>
                      <a:endParaRPr lang="en-US" sz="1050" dirty="0">
                        <a:latin typeface="Calibri" charset="0"/>
                        <a:ea typeface="Calibri" charset="0"/>
                        <a:cs typeface="Calibri" charset="0"/>
                      </a:endParaRPr>
                    </a:p>
                  </a:txBody>
                  <a:tcPr marL="101600" marR="1016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41248">
                <a:tc>
                  <a:txBody>
                    <a:bodyPr/>
                    <a:lstStyle/>
                    <a:p>
                      <a:pPr marL="0" indent="0">
                        <a:buNone/>
                      </a:pPr>
                      <a:r>
                        <a:rPr lang="en-US" sz="1050" b="1" dirty="0">
                          <a:solidFill>
                            <a:srgbClr val="00A896"/>
                          </a:solidFill>
                          <a:latin typeface="Calibri" pitchFamily="34" charset="0"/>
                          <a:ea typeface="Calibri" pitchFamily="34" charset="-122"/>
                          <a:cs typeface="Calibri" pitchFamily="34" charset="-120"/>
                        </a:rPr>
                        <a:t>Baja-Media</a:t>
                      </a:r>
                      <a:endParaRPr lang="en-US" sz="1050" dirty="0">
                        <a:latin typeface="Calibri" charset="0"/>
                        <a:ea typeface="Calibri" charset="0"/>
                        <a:cs typeface="Calibri" charset="0"/>
                      </a:endParaRPr>
                    </a:p>
                  </a:txBody>
                  <a:tcPr marL="101600" marR="1016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1FB"/>
                    </a:solidFill>
                  </a:tcPr>
                </a:tc>
                <a:tc>
                  <a:txBody>
                    <a:bodyPr/>
                    <a:lstStyle/>
                    <a:p>
                      <a:pPr marL="0" indent="0">
                        <a:buNone/>
                      </a:pPr>
                      <a:r>
                        <a:rPr lang="en-US" sz="1050" b="1" dirty="0">
                          <a:solidFill>
                            <a:srgbClr val="1E2761"/>
                          </a:solidFill>
                          <a:latin typeface="Calibri" pitchFamily="34" charset="0"/>
                          <a:ea typeface="Calibri" pitchFamily="34" charset="-122"/>
                          <a:cs typeface="Calibri" pitchFamily="34" charset="-120"/>
                        </a:rPr>
                        <a:t>F-06</a:t>
                      </a:r>
                      <a:endParaRPr lang="en-US" sz="1050" dirty="0">
                        <a:latin typeface="Calibri" charset="0"/>
                        <a:ea typeface="Calibri" charset="0"/>
                        <a:cs typeface="Calibri" charset="0"/>
                      </a:endParaRPr>
                    </a:p>
                  </a:txBody>
                  <a:tcPr marL="101600" marR="1016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1FB"/>
                    </a:solidFill>
                  </a:tcPr>
                </a:tc>
                <a:tc>
                  <a:txBody>
                    <a:bodyPr/>
                    <a:lstStyle/>
                    <a:p>
                      <a:pPr marL="0" indent="0">
                        <a:buNone/>
                      </a:pPr>
                      <a:r>
                        <a:rPr lang="en-US" sz="1050" dirty="0">
                          <a:solidFill>
                            <a:srgbClr val="1E2761"/>
                          </a:solidFill>
                          <a:latin typeface="Calibri" pitchFamily="34" charset="0"/>
                          <a:ea typeface="Calibri" pitchFamily="34" charset="-122"/>
                          <a:cs typeface="Calibri" pitchFamily="34" charset="-120"/>
                        </a:rPr>
                        <a:t>TRACE habilitado, sin cabeceras de seguridad HTTP</a:t>
                      </a:r>
                      <a:endParaRPr lang="en-US" sz="1050" dirty="0">
                        <a:latin typeface="Calibri" charset="0"/>
                        <a:ea typeface="Calibri" charset="0"/>
                        <a:cs typeface="Calibri" charset="0"/>
                      </a:endParaRPr>
                    </a:p>
                  </a:txBody>
                  <a:tcPr marL="101600" marR="1016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1FB"/>
                    </a:solidFill>
                  </a:tcPr>
                </a:tc>
                <a:tc>
                  <a:txBody>
                    <a:bodyPr/>
                    <a:lstStyle/>
                    <a:p>
                      <a:pPr marL="0" indent="0">
                        <a:buNone/>
                      </a:pPr>
                      <a:r>
                        <a:rPr lang="en-US" sz="1050" dirty="0">
                          <a:solidFill>
                            <a:srgbClr val="8A9BC4"/>
                          </a:solidFill>
                          <a:latin typeface="Calibri" pitchFamily="34" charset="0"/>
                          <a:ea typeface="Calibri" pitchFamily="34" charset="-122"/>
                          <a:cs typeface="Calibri" pitchFamily="34" charset="-120"/>
                        </a:rPr>
                        <a:t>Mediano plazo (2–4 sem)</a:t>
                      </a:r>
                      <a:endParaRPr lang="en-US" sz="1050" dirty="0">
                        <a:latin typeface="Calibri" charset="0"/>
                        <a:ea typeface="Calibri" charset="0"/>
                        <a:cs typeface="Calibri" charset="0"/>
                      </a:endParaRPr>
                    </a:p>
                  </a:txBody>
                  <a:tcPr marL="101600" marR="1016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1FB"/>
                    </a:solidFill>
                  </a:tcPr>
                </a:tc>
                <a:extLst>
                  <a:ext uri="{0D108BD9-81ED-4DB2-BD59-A6C34878D82A}">
                    <a16:rowId xmlns:a16="http://schemas.microsoft.com/office/drawing/2014/main" val="10004"/>
                  </a:ext>
                </a:extLst>
              </a:tr>
            </a:tbl>
          </a:graphicData>
        </a:graphic>
      </p:graphicFrame>
      <p:sp>
        <p:nvSpPr>
          <p:cNvPr id="5" name="Text 2"/>
          <p:cNvSpPr/>
          <p:nvPr/>
        </p:nvSpPr>
        <p:spPr>
          <a:xfrm>
            <a:off x="548640" y="6080760"/>
            <a:ext cx="11064240" cy="411480"/>
          </a:xfrm>
          <a:prstGeom prst="rect">
            <a:avLst/>
          </a:prstGeom>
          <a:noFill/>
          <a:ln/>
        </p:spPr>
        <p:txBody>
          <a:bodyPr wrap="square" lIns="0" tIns="0" rIns="0" bIns="0" rtlCol="0" anchor="ctr"/>
          <a:lstStyle/>
          <a:p>
            <a:pPr marL="0" indent="0">
              <a:buNone/>
            </a:pPr>
            <a:r>
              <a:rPr lang="en-US" sz="1050" b="1" i="1" dirty="0">
                <a:solidFill>
                  <a:srgbClr val="C1272D"/>
                </a:solidFill>
                <a:latin typeface="Calibri" pitchFamily="34" charset="0"/>
                <a:ea typeface="Calibri" pitchFamily="34" charset="-122"/>
                <a:cs typeface="Calibri" pitchFamily="34" charset="-120"/>
              </a:rPr>
              <a:t>Riesgo del engagement: CRÍTICO — tres hallazgos de severidad crítica forman una cadena de explotación completa desde acceso no autenticado hasta privilegios root.</a:t>
            </a:r>
            <a:endParaRPr lang="en-US" sz="1050" dirty="0"/>
          </a:p>
        </p:txBody>
      </p:sp>
      <p:sp>
        <p:nvSpPr>
          <p:cNvPr id="25" name="Slide Number Placeholder 0"/>
          <p:cNvSpPr>
            <a:spLocks noGrp="1"/>
          </p:cNvSpPr>
          <p:nvPr>
            <p:ph type="sldNum" sz="quarter" idx="4294967295"/>
          </p:nvPr>
        </p:nvSpPr>
        <p:spPr>
          <a:xfrm>
            <a:off x="1152144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BC4"/>
                </a:solidFill>
                <a:latin typeface="Calibri"/>
                <a:ea typeface="Calibri"/>
                <a:cs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64240" cy="731520"/>
          </a:xfrm>
          <a:prstGeom prst="rect">
            <a:avLst/>
          </a:prstGeom>
          <a:noFill/>
          <a:ln/>
        </p:spPr>
        <p:txBody>
          <a:bodyPr wrap="square" lIns="0" tIns="0" rIns="0" bIns="0" rtlCol="0"/>
          <a:lstStyle/>
          <a:p>
            <a:pPr marL="0" indent="0" algn="l">
              <a:buNone/>
            </a:pPr>
            <a:r>
              <a:rPr lang="en-US" sz="3000" b="1" dirty="0">
                <a:solidFill>
                  <a:srgbClr val="1E2761"/>
                </a:solidFill>
                <a:latin typeface="Cambria" pitchFamily="34" charset="0"/>
                <a:ea typeface="Cambria" pitchFamily="34" charset="-122"/>
                <a:cs typeface="Cambria" pitchFamily="34" charset="-120"/>
              </a:rPr>
              <a:t>Recomendaciones Estratégicas</a:t>
            </a:r>
            <a:endParaRPr lang="en-US" sz="3000" dirty="0"/>
          </a:p>
        </p:txBody>
      </p:sp>
      <p:sp>
        <p:nvSpPr>
          <p:cNvPr id="3" name="Text 1"/>
          <p:cNvSpPr/>
          <p:nvPr/>
        </p:nvSpPr>
        <p:spPr>
          <a:xfrm>
            <a:off x="548640" y="1234440"/>
            <a:ext cx="7315200" cy="274320"/>
          </a:xfrm>
          <a:prstGeom prst="rect">
            <a:avLst/>
          </a:prstGeom>
          <a:noFill/>
          <a:ln/>
        </p:spPr>
        <p:txBody>
          <a:bodyPr wrap="square" lIns="0" tIns="0" rIns="0" bIns="0" rtlCol="0" anchor="ctr"/>
          <a:lstStyle/>
          <a:p>
            <a:pPr marL="0" indent="0">
              <a:buNone/>
            </a:pPr>
            <a:r>
              <a:rPr lang="en-US" sz="1200" b="1" kern="0" spc="150" dirty="0">
                <a:solidFill>
                  <a:srgbClr val="C1272D"/>
                </a:solidFill>
                <a:latin typeface="Calibri" pitchFamily="34" charset="0"/>
                <a:ea typeface="Calibri" pitchFamily="34" charset="-122"/>
                <a:cs typeface="Calibri" pitchFamily="34" charset="-120"/>
              </a:rPr>
              <a:t>PRIORIDADES PARA EL CONSEJO DIRECTIVO</a:t>
            </a:r>
            <a:endParaRPr lang="en-US" sz="1200" dirty="0"/>
          </a:p>
        </p:txBody>
      </p:sp>
      <p:sp>
        <p:nvSpPr>
          <p:cNvPr id="4" name="Shape 2"/>
          <p:cNvSpPr/>
          <p:nvPr/>
        </p:nvSpPr>
        <p:spPr>
          <a:xfrm>
            <a:off x="548640" y="1737360"/>
            <a:ext cx="3566160" cy="4114800"/>
          </a:xfrm>
          <a:prstGeom prst="roundRect">
            <a:avLst>
              <a:gd name="adj" fmla="val 2051"/>
            </a:avLst>
          </a:prstGeom>
          <a:solidFill>
            <a:srgbClr val="EEF1FB"/>
          </a:solidFill>
          <a:ln/>
        </p:spPr>
        <p:txBody>
          <a:bodyPr/>
          <a:lstStyle/>
          <a:p>
            <a:endParaRPr lang="es-MX"/>
          </a:p>
        </p:txBody>
      </p:sp>
      <p:sp>
        <p:nvSpPr>
          <p:cNvPr id="5" name="Shape 3"/>
          <p:cNvSpPr/>
          <p:nvPr/>
        </p:nvSpPr>
        <p:spPr>
          <a:xfrm>
            <a:off x="777240" y="1965960"/>
            <a:ext cx="502920" cy="502920"/>
          </a:xfrm>
          <a:prstGeom prst="ellipse">
            <a:avLst/>
          </a:prstGeom>
          <a:solidFill>
            <a:srgbClr val="C1272D"/>
          </a:solidFill>
          <a:ln/>
        </p:spPr>
        <p:txBody>
          <a:bodyPr/>
          <a:lstStyle/>
          <a:p>
            <a:endParaRPr lang="es-MX"/>
          </a:p>
        </p:txBody>
      </p:sp>
      <p:sp>
        <p:nvSpPr>
          <p:cNvPr id="6" name="Text 4"/>
          <p:cNvSpPr/>
          <p:nvPr/>
        </p:nvSpPr>
        <p:spPr>
          <a:xfrm>
            <a:off x="777240" y="19659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777240" y="2651760"/>
            <a:ext cx="3108960" cy="822960"/>
          </a:xfrm>
          <a:prstGeom prst="rect">
            <a:avLst/>
          </a:prstGeom>
          <a:noFill/>
          <a:ln/>
        </p:spPr>
        <p:txBody>
          <a:bodyPr wrap="square" lIns="0" tIns="0" rIns="0" bIns="0" rtlCol="0" anchor="ctr"/>
          <a:lstStyle/>
          <a:p>
            <a:pPr marL="0" indent="0">
              <a:lnSpc>
                <a:spcPct val="110000"/>
              </a:lnSpc>
              <a:buNone/>
            </a:pPr>
            <a:r>
              <a:rPr lang="en-US" sz="1600" b="1" dirty="0">
                <a:solidFill>
                  <a:srgbClr val="1E2761"/>
                </a:solidFill>
                <a:latin typeface="Cambria" pitchFamily="34" charset="0"/>
                <a:ea typeface="Cambria" pitchFamily="34" charset="-122"/>
                <a:cs typeface="Cambria" pitchFamily="34" charset="-120"/>
              </a:rPr>
              <a:t>Parchar el kernel de inmediato</a:t>
            </a:r>
            <a:endParaRPr lang="en-US" sz="1600" dirty="0"/>
          </a:p>
        </p:txBody>
      </p:sp>
      <p:sp>
        <p:nvSpPr>
          <p:cNvPr id="8" name="Text 6"/>
          <p:cNvSpPr/>
          <p:nvPr/>
        </p:nvSpPr>
        <p:spPr>
          <a:xfrm>
            <a:off x="777240" y="3520440"/>
            <a:ext cx="3108960" cy="1828800"/>
          </a:xfrm>
          <a:prstGeom prst="rect">
            <a:avLst/>
          </a:prstGeom>
          <a:noFill/>
          <a:ln/>
        </p:spPr>
        <p:txBody>
          <a:bodyPr wrap="square" lIns="0" tIns="0" rIns="0" bIns="0" rtlCol="0" anchor="ctr"/>
          <a:lstStyle/>
          <a:p>
            <a:pPr marL="0" indent="0">
              <a:lnSpc>
                <a:spcPct val="130000"/>
              </a:lnSpc>
              <a:buNone/>
            </a:pPr>
            <a:r>
              <a:rPr lang="en-US" sz="1100" dirty="0">
                <a:solidFill>
                  <a:srgbClr val="1E2761"/>
                </a:solidFill>
                <a:latin typeface="Calibri" pitchFamily="34" charset="0"/>
                <a:ea typeface="Calibri" pitchFamily="34" charset="-122"/>
                <a:cs typeface="Calibri" pitchFamily="34" charset="-120"/>
              </a:rPr>
              <a:t>Aplicar parches de seguridad contra CVE-2016-5195 (Dirty COW) o migrar a una distribución con soporte activo.</a:t>
            </a:r>
            <a:endParaRPr lang="en-US" sz="1100" dirty="0"/>
          </a:p>
        </p:txBody>
      </p:sp>
      <p:sp>
        <p:nvSpPr>
          <p:cNvPr id="9" name="Text 7"/>
          <p:cNvSpPr/>
          <p:nvPr/>
        </p:nvSpPr>
        <p:spPr>
          <a:xfrm>
            <a:off x="777240" y="5349240"/>
            <a:ext cx="3108960" cy="320040"/>
          </a:xfrm>
          <a:prstGeom prst="rect">
            <a:avLst/>
          </a:prstGeom>
          <a:noFill/>
          <a:ln/>
        </p:spPr>
        <p:txBody>
          <a:bodyPr wrap="square" lIns="0" tIns="0" rIns="0" bIns="0" rtlCol="0" anchor="ctr"/>
          <a:lstStyle/>
          <a:p>
            <a:pPr marL="0" indent="0">
              <a:buNone/>
            </a:pPr>
            <a:r>
              <a:rPr lang="en-US" sz="1000" b="1" kern="0" spc="100" dirty="0">
                <a:solidFill>
                  <a:srgbClr val="C1272D"/>
                </a:solidFill>
                <a:latin typeface="Calibri" pitchFamily="34" charset="0"/>
                <a:ea typeface="Calibri" pitchFamily="34" charset="-122"/>
                <a:cs typeface="Calibri" pitchFamily="34" charset="-120"/>
              </a:rPr>
              <a:t>INMEDIATO</a:t>
            </a:r>
            <a:endParaRPr lang="en-US" sz="1000" dirty="0"/>
          </a:p>
        </p:txBody>
      </p:sp>
      <p:sp>
        <p:nvSpPr>
          <p:cNvPr id="10" name="Shape 8"/>
          <p:cNvSpPr/>
          <p:nvPr/>
        </p:nvSpPr>
        <p:spPr>
          <a:xfrm>
            <a:off x="4297680" y="1737360"/>
            <a:ext cx="3566160" cy="4114800"/>
          </a:xfrm>
          <a:prstGeom prst="roundRect">
            <a:avLst>
              <a:gd name="adj" fmla="val 2051"/>
            </a:avLst>
          </a:prstGeom>
          <a:solidFill>
            <a:srgbClr val="EEF1FB"/>
          </a:solidFill>
          <a:ln/>
        </p:spPr>
        <p:txBody>
          <a:bodyPr/>
          <a:lstStyle/>
          <a:p>
            <a:endParaRPr lang="es-MX"/>
          </a:p>
        </p:txBody>
      </p:sp>
      <p:sp>
        <p:nvSpPr>
          <p:cNvPr id="11" name="Shape 9"/>
          <p:cNvSpPr/>
          <p:nvPr/>
        </p:nvSpPr>
        <p:spPr>
          <a:xfrm>
            <a:off x="4526280" y="1965960"/>
            <a:ext cx="502920" cy="502920"/>
          </a:xfrm>
          <a:prstGeom prst="ellipse">
            <a:avLst/>
          </a:prstGeom>
          <a:solidFill>
            <a:srgbClr val="C1272D"/>
          </a:solidFill>
          <a:ln/>
        </p:spPr>
        <p:txBody>
          <a:bodyPr/>
          <a:lstStyle/>
          <a:p>
            <a:endParaRPr lang="es-MX"/>
          </a:p>
        </p:txBody>
      </p:sp>
      <p:sp>
        <p:nvSpPr>
          <p:cNvPr id="12" name="Text 10"/>
          <p:cNvSpPr/>
          <p:nvPr/>
        </p:nvSpPr>
        <p:spPr>
          <a:xfrm>
            <a:off x="4526280" y="19659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4526280" y="2651760"/>
            <a:ext cx="3108960" cy="822960"/>
          </a:xfrm>
          <a:prstGeom prst="rect">
            <a:avLst/>
          </a:prstGeom>
          <a:noFill/>
          <a:ln/>
        </p:spPr>
        <p:txBody>
          <a:bodyPr wrap="square" lIns="0" tIns="0" rIns="0" bIns="0" rtlCol="0" anchor="ctr"/>
          <a:lstStyle/>
          <a:p>
            <a:pPr marL="0" indent="0">
              <a:lnSpc>
                <a:spcPct val="110000"/>
              </a:lnSpc>
              <a:buNone/>
            </a:pPr>
            <a:r>
              <a:rPr lang="en-US" sz="1600" b="1" dirty="0">
                <a:solidFill>
                  <a:srgbClr val="1E2761"/>
                </a:solidFill>
                <a:latin typeface="Cambria" pitchFamily="34" charset="0"/>
                <a:ea typeface="Cambria" pitchFamily="34" charset="-122"/>
                <a:cs typeface="Cambria" pitchFamily="34" charset="-120"/>
              </a:rPr>
              <a:t>Eliminar la fuga de credenciales</a:t>
            </a:r>
            <a:endParaRPr lang="en-US" sz="1600" dirty="0"/>
          </a:p>
        </p:txBody>
      </p:sp>
      <p:sp>
        <p:nvSpPr>
          <p:cNvPr id="14" name="Text 12"/>
          <p:cNvSpPr/>
          <p:nvPr/>
        </p:nvSpPr>
        <p:spPr>
          <a:xfrm>
            <a:off x="4526280" y="3520440"/>
            <a:ext cx="3108960" cy="1828800"/>
          </a:xfrm>
          <a:prstGeom prst="rect">
            <a:avLst/>
          </a:prstGeom>
          <a:noFill/>
          <a:ln/>
        </p:spPr>
        <p:txBody>
          <a:bodyPr wrap="square" lIns="0" tIns="0" rIns="0" bIns="0" rtlCol="0" anchor="ctr"/>
          <a:lstStyle/>
          <a:p>
            <a:pPr marL="0" indent="0">
              <a:lnSpc>
                <a:spcPct val="130000"/>
              </a:lnSpc>
              <a:buNone/>
            </a:pPr>
            <a:r>
              <a:rPr lang="en-US" sz="1100" dirty="0">
                <a:solidFill>
                  <a:srgbClr val="1E2761"/>
                </a:solidFill>
                <a:latin typeface="Calibri" pitchFamily="34" charset="0"/>
                <a:ea typeface="Calibri" pitchFamily="34" charset="-122"/>
                <a:cs typeface="Calibri" pitchFamily="34" charset="-120"/>
              </a:rPr>
              <a:t>Retirar el archivo /readme.txt, auditar el sitio en busca de otros archivos sensibles y rotar la contraseña comprometida.</a:t>
            </a:r>
            <a:endParaRPr lang="en-US" sz="1100" dirty="0"/>
          </a:p>
        </p:txBody>
      </p:sp>
      <p:sp>
        <p:nvSpPr>
          <p:cNvPr id="15" name="Text 13"/>
          <p:cNvSpPr/>
          <p:nvPr/>
        </p:nvSpPr>
        <p:spPr>
          <a:xfrm>
            <a:off x="4526280" y="5349240"/>
            <a:ext cx="3108960" cy="320040"/>
          </a:xfrm>
          <a:prstGeom prst="rect">
            <a:avLst/>
          </a:prstGeom>
          <a:noFill/>
          <a:ln/>
        </p:spPr>
        <p:txBody>
          <a:bodyPr wrap="square" lIns="0" tIns="0" rIns="0" bIns="0" rtlCol="0" anchor="ctr"/>
          <a:lstStyle/>
          <a:p>
            <a:pPr marL="0" indent="0">
              <a:buNone/>
            </a:pPr>
            <a:r>
              <a:rPr lang="en-US" sz="1000" b="1" kern="0" spc="100" dirty="0">
                <a:solidFill>
                  <a:srgbClr val="C1272D"/>
                </a:solidFill>
                <a:latin typeface="Calibri" pitchFamily="34" charset="0"/>
                <a:ea typeface="Calibri" pitchFamily="34" charset="-122"/>
                <a:cs typeface="Calibri" pitchFamily="34" charset="-120"/>
              </a:rPr>
              <a:t>INMEDIATO</a:t>
            </a:r>
            <a:endParaRPr lang="en-US" sz="1000" dirty="0"/>
          </a:p>
        </p:txBody>
      </p:sp>
      <p:sp>
        <p:nvSpPr>
          <p:cNvPr id="16" name="Shape 14"/>
          <p:cNvSpPr/>
          <p:nvPr/>
        </p:nvSpPr>
        <p:spPr>
          <a:xfrm>
            <a:off x="8046720" y="1737360"/>
            <a:ext cx="3566160" cy="4114800"/>
          </a:xfrm>
          <a:prstGeom prst="roundRect">
            <a:avLst>
              <a:gd name="adj" fmla="val 2051"/>
            </a:avLst>
          </a:prstGeom>
          <a:solidFill>
            <a:srgbClr val="EEF1FB"/>
          </a:solidFill>
          <a:ln/>
        </p:spPr>
        <p:txBody>
          <a:bodyPr/>
          <a:lstStyle/>
          <a:p>
            <a:endParaRPr lang="es-MX"/>
          </a:p>
        </p:txBody>
      </p:sp>
      <p:sp>
        <p:nvSpPr>
          <p:cNvPr id="17" name="Shape 15"/>
          <p:cNvSpPr/>
          <p:nvPr/>
        </p:nvSpPr>
        <p:spPr>
          <a:xfrm>
            <a:off x="8275320" y="1965960"/>
            <a:ext cx="502920" cy="502920"/>
          </a:xfrm>
          <a:prstGeom prst="ellipse">
            <a:avLst/>
          </a:prstGeom>
          <a:solidFill>
            <a:srgbClr val="C1272D"/>
          </a:solidFill>
          <a:ln/>
        </p:spPr>
        <p:txBody>
          <a:bodyPr/>
          <a:lstStyle/>
          <a:p>
            <a:endParaRPr lang="es-MX"/>
          </a:p>
        </p:txBody>
      </p:sp>
      <p:sp>
        <p:nvSpPr>
          <p:cNvPr id="18" name="Text 16"/>
          <p:cNvSpPr/>
          <p:nvPr/>
        </p:nvSpPr>
        <p:spPr>
          <a:xfrm>
            <a:off x="8275320" y="19659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7"/>
          <p:cNvSpPr/>
          <p:nvPr/>
        </p:nvSpPr>
        <p:spPr>
          <a:xfrm>
            <a:off x="8275320" y="2651760"/>
            <a:ext cx="3108960" cy="822960"/>
          </a:xfrm>
          <a:prstGeom prst="rect">
            <a:avLst/>
          </a:prstGeom>
          <a:noFill/>
          <a:ln/>
        </p:spPr>
        <p:txBody>
          <a:bodyPr wrap="square" lIns="0" tIns="0" rIns="0" bIns="0" rtlCol="0" anchor="ctr"/>
          <a:lstStyle/>
          <a:p>
            <a:pPr marL="0" indent="0">
              <a:lnSpc>
                <a:spcPct val="110000"/>
              </a:lnSpc>
              <a:buNone/>
            </a:pPr>
            <a:r>
              <a:rPr lang="en-US" sz="1600" b="1" dirty="0">
                <a:solidFill>
                  <a:srgbClr val="1E2761"/>
                </a:solidFill>
                <a:latin typeface="Cambria" pitchFamily="34" charset="0"/>
                <a:ea typeface="Cambria" pitchFamily="34" charset="-122"/>
                <a:cs typeface="Cambria" pitchFamily="34" charset="-120"/>
              </a:rPr>
              <a:t>Restringir permisos y segmentar servicios</a:t>
            </a:r>
            <a:endParaRPr lang="en-US" sz="1600" dirty="0"/>
          </a:p>
        </p:txBody>
      </p:sp>
      <p:sp>
        <p:nvSpPr>
          <p:cNvPr id="20" name="Text 18"/>
          <p:cNvSpPr/>
          <p:nvPr/>
        </p:nvSpPr>
        <p:spPr>
          <a:xfrm>
            <a:off x="8275320" y="3520440"/>
            <a:ext cx="3108960" cy="1828800"/>
          </a:xfrm>
          <a:prstGeom prst="rect">
            <a:avLst/>
          </a:prstGeom>
          <a:noFill/>
          <a:ln/>
        </p:spPr>
        <p:txBody>
          <a:bodyPr wrap="square" lIns="0" tIns="0" rIns="0" bIns="0" rtlCol="0" anchor="ctr"/>
          <a:lstStyle/>
          <a:p>
            <a:pPr marL="0" indent="0">
              <a:lnSpc>
                <a:spcPct val="130000"/>
              </a:lnSpc>
              <a:buNone/>
            </a:pPr>
            <a:r>
              <a:rPr lang="en-US" sz="1100" dirty="0">
                <a:solidFill>
                  <a:srgbClr val="1E2761"/>
                </a:solidFill>
                <a:latin typeface="Calibri" pitchFamily="34" charset="0"/>
                <a:ea typeface="Calibri" pitchFamily="34" charset="-122"/>
                <a:cs typeface="Calibri" pitchFamily="34" charset="-120"/>
              </a:rPr>
              <a:t>Limitar la escritura de FTP/SMB sobre directorios sensibles, deshabilitar el acceso anónimo y segmentar la red interna.</a:t>
            </a:r>
            <a:endParaRPr lang="en-US" sz="1100" dirty="0"/>
          </a:p>
        </p:txBody>
      </p:sp>
      <p:sp>
        <p:nvSpPr>
          <p:cNvPr id="21" name="Text 19"/>
          <p:cNvSpPr/>
          <p:nvPr/>
        </p:nvSpPr>
        <p:spPr>
          <a:xfrm>
            <a:off x="8275320" y="5349240"/>
            <a:ext cx="3108960" cy="320040"/>
          </a:xfrm>
          <a:prstGeom prst="rect">
            <a:avLst/>
          </a:prstGeom>
          <a:noFill/>
          <a:ln/>
        </p:spPr>
        <p:txBody>
          <a:bodyPr wrap="square" lIns="0" tIns="0" rIns="0" bIns="0" rtlCol="0" anchor="ctr"/>
          <a:lstStyle/>
          <a:p>
            <a:pPr marL="0" indent="0">
              <a:buNone/>
            </a:pPr>
            <a:r>
              <a:rPr lang="en-US" sz="1000" b="1" kern="0" spc="100" dirty="0">
                <a:solidFill>
                  <a:srgbClr val="C1272D"/>
                </a:solidFill>
                <a:latin typeface="Calibri" pitchFamily="34" charset="0"/>
                <a:ea typeface="Calibri" pitchFamily="34" charset="-122"/>
                <a:cs typeface="Calibri" pitchFamily="34" charset="-120"/>
              </a:rPr>
              <a:t>CORTO PLAZO</a:t>
            </a:r>
            <a:endParaRPr lang="en-US" sz="1000" dirty="0"/>
          </a:p>
        </p:txBody>
      </p:sp>
      <p:sp>
        <p:nvSpPr>
          <p:cNvPr id="25" name="Slide Number Placeholder 0"/>
          <p:cNvSpPr>
            <a:spLocks noGrp="1"/>
          </p:cNvSpPr>
          <p:nvPr>
            <p:ph type="sldNum" sz="quarter" idx="4294967295"/>
          </p:nvPr>
        </p:nvSpPr>
        <p:spPr>
          <a:xfrm>
            <a:off x="1152144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BC4"/>
                </a:solidFill>
                <a:latin typeface="Calibri"/>
                <a:ea typeface="Calibri"/>
                <a:cs typeface="Calibr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64240" cy="731520"/>
          </a:xfrm>
          <a:prstGeom prst="rect">
            <a:avLst/>
          </a:prstGeom>
          <a:noFill/>
          <a:ln/>
        </p:spPr>
        <p:txBody>
          <a:bodyPr wrap="square" lIns="0" tIns="0" rIns="0" bIns="0" rtlCol="0"/>
          <a:lstStyle/>
          <a:p>
            <a:pPr marL="0" indent="0" algn="l">
              <a:buNone/>
            </a:pPr>
            <a:r>
              <a:rPr lang="en-US" sz="3000" b="1" dirty="0">
                <a:solidFill>
                  <a:srgbClr val="1E2761"/>
                </a:solidFill>
                <a:latin typeface="Cambria" pitchFamily="34" charset="0"/>
                <a:ea typeface="Cambria" pitchFamily="34" charset="-122"/>
                <a:cs typeface="Cambria" pitchFamily="34" charset="-120"/>
              </a:rPr>
              <a:t>Roadmap de Remediación</a:t>
            </a:r>
            <a:endParaRPr lang="en-US" sz="3000" dirty="0"/>
          </a:p>
        </p:txBody>
      </p:sp>
      <p:sp>
        <p:nvSpPr>
          <p:cNvPr id="3" name="Text 1"/>
          <p:cNvSpPr/>
          <p:nvPr/>
        </p:nvSpPr>
        <p:spPr>
          <a:xfrm>
            <a:off x="548640" y="1234440"/>
            <a:ext cx="7315200" cy="274320"/>
          </a:xfrm>
          <a:prstGeom prst="rect">
            <a:avLst/>
          </a:prstGeom>
          <a:noFill/>
          <a:ln/>
        </p:spPr>
        <p:txBody>
          <a:bodyPr wrap="square" lIns="0" tIns="0" rIns="0" bIns="0" rtlCol="0" anchor="ctr"/>
          <a:lstStyle/>
          <a:p>
            <a:pPr marL="0" indent="0">
              <a:buNone/>
            </a:pPr>
            <a:r>
              <a:rPr lang="en-US" sz="1200" b="1" kern="0" spc="150" dirty="0">
                <a:solidFill>
                  <a:srgbClr val="C1272D"/>
                </a:solidFill>
                <a:latin typeface="Calibri" pitchFamily="34" charset="0"/>
                <a:ea typeface="Calibri" pitchFamily="34" charset="-122"/>
                <a:cs typeface="Calibri" pitchFamily="34" charset="-120"/>
              </a:rPr>
              <a:t>PLAZOS SUGERIDOS DE IMPLEMENTACIÓN</a:t>
            </a:r>
            <a:endParaRPr lang="en-US" sz="1200" dirty="0"/>
          </a:p>
        </p:txBody>
      </p:sp>
      <p:sp>
        <p:nvSpPr>
          <p:cNvPr id="4" name="Shape 2"/>
          <p:cNvSpPr/>
          <p:nvPr/>
        </p:nvSpPr>
        <p:spPr>
          <a:xfrm>
            <a:off x="548640" y="1783080"/>
            <a:ext cx="2697480" cy="502920"/>
          </a:xfrm>
          <a:prstGeom prst="roundRect">
            <a:avLst>
              <a:gd name="adj" fmla="val 10909"/>
            </a:avLst>
          </a:prstGeom>
          <a:solidFill>
            <a:srgbClr val="C1272D"/>
          </a:solidFill>
          <a:ln/>
        </p:spPr>
        <p:txBody>
          <a:bodyPr/>
          <a:lstStyle/>
          <a:p>
            <a:endParaRPr lang="es-MX"/>
          </a:p>
        </p:txBody>
      </p:sp>
      <p:sp>
        <p:nvSpPr>
          <p:cNvPr id="5" name="Text 3"/>
          <p:cNvSpPr/>
          <p:nvPr/>
        </p:nvSpPr>
        <p:spPr>
          <a:xfrm>
            <a:off x="548640" y="1783080"/>
            <a:ext cx="269748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INMEDIATO</a:t>
            </a:r>
            <a:endParaRPr lang="en-US" sz="1200" dirty="0"/>
          </a:p>
        </p:txBody>
      </p:sp>
      <p:sp>
        <p:nvSpPr>
          <p:cNvPr id="6" name="Text 4"/>
          <p:cNvSpPr/>
          <p:nvPr/>
        </p:nvSpPr>
        <p:spPr>
          <a:xfrm>
            <a:off x="548640" y="2350008"/>
            <a:ext cx="2697480" cy="274320"/>
          </a:xfrm>
          <a:prstGeom prst="rect">
            <a:avLst/>
          </a:prstGeom>
          <a:noFill/>
          <a:ln/>
        </p:spPr>
        <p:txBody>
          <a:bodyPr wrap="square" lIns="0" tIns="0" rIns="0" bIns="0" rtlCol="0" anchor="ctr"/>
          <a:lstStyle/>
          <a:p>
            <a:pPr marL="0" indent="0" algn="ctr">
              <a:buNone/>
            </a:pPr>
            <a:r>
              <a:rPr lang="en-US" sz="1000" i="1" dirty="0">
                <a:solidFill>
                  <a:srgbClr val="8A9BC4"/>
                </a:solidFill>
                <a:latin typeface="Calibri" pitchFamily="34" charset="0"/>
                <a:ea typeface="Calibri" pitchFamily="34" charset="-122"/>
                <a:cs typeface="Calibri" pitchFamily="34" charset="-120"/>
              </a:rPr>
              <a:t>0–48 horas</a:t>
            </a:r>
            <a:endParaRPr lang="en-US" sz="1000" dirty="0"/>
          </a:p>
        </p:txBody>
      </p:sp>
      <p:sp>
        <p:nvSpPr>
          <p:cNvPr id="7" name="Shape 5"/>
          <p:cNvSpPr/>
          <p:nvPr/>
        </p:nvSpPr>
        <p:spPr>
          <a:xfrm>
            <a:off x="548640" y="2697480"/>
            <a:ext cx="2697480" cy="3108960"/>
          </a:xfrm>
          <a:prstGeom prst="roundRect">
            <a:avLst>
              <a:gd name="adj" fmla="val 2034"/>
            </a:avLst>
          </a:prstGeom>
          <a:solidFill>
            <a:srgbClr val="EEF1FB"/>
          </a:solidFill>
          <a:ln/>
        </p:spPr>
        <p:txBody>
          <a:bodyPr/>
          <a:lstStyle/>
          <a:p>
            <a:endParaRPr lang="es-MX"/>
          </a:p>
        </p:txBody>
      </p:sp>
      <p:sp>
        <p:nvSpPr>
          <p:cNvPr id="8" name="Text 6"/>
          <p:cNvSpPr/>
          <p:nvPr/>
        </p:nvSpPr>
        <p:spPr>
          <a:xfrm>
            <a:off x="713232" y="2880360"/>
            <a:ext cx="2368296" cy="2743200"/>
          </a:xfrm>
          <a:prstGeom prst="rect">
            <a:avLst/>
          </a:prstGeom>
          <a:noFill/>
          <a:ln/>
        </p:spPr>
        <p:txBody>
          <a:bodyPr wrap="square" lIns="0" tIns="0" rIns="0" bIns="0" rtlCol="0" anchor="ctr"/>
          <a:lstStyle/>
          <a:p>
            <a:pPr marL="342900" indent="-342900">
              <a:lnSpc>
                <a:spcPct val="125000"/>
              </a:lnSpc>
              <a:spcAft>
                <a:spcPts val="800"/>
              </a:spcAft>
              <a:buSzPct val="100000"/>
              <a:buChar char="▪"/>
            </a:pPr>
            <a:r>
              <a:rPr lang="en-US" sz="1050" dirty="0">
                <a:solidFill>
                  <a:srgbClr val="1E2761"/>
                </a:solidFill>
                <a:latin typeface="Calibri" pitchFamily="34" charset="0"/>
                <a:ea typeface="Calibri" pitchFamily="34" charset="-122"/>
                <a:cs typeface="Calibri" pitchFamily="34" charset="-120"/>
              </a:rPr>
              <a:t>Parchar el kernel del sistema operativo</a:t>
            </a:r>
            <a:endParaRPr lang="en-US" sz="1050" dirty="0"/>
          </a:p>
          <a:p>
            <a:pPr marL="342900" indent="-342900">
              <a:lnSpc>
                <a:spcPct val="125000"/>
              </a:lnSpc>
              <a:spcAft>
                <a:spcPts val="800"/>
              </a:spcAft>
              <a:buSzPct val="100000"/>
              <a:buChar char="▪"/>
            </a:pPr>
            <a:r>
              <a:rPr lang="en-US" sz="1050" dirty="0">
                <a:solidFill>
                  <a:srgbClr val="1E2761"/>
                </a:solidFill>
                <a:latin typeface="Calibri" pitchFamily="34" charset="0"/>
                <a:ea typeface="Calibri" pitchFamily="34" charset="-122"/>
                <a:cs typeface="Calibri" pitchFamily="34" charset="-120"/>
              </a:rPr>
              <a:t>Eliminar /readme.txt y rotar la credencial smbuser</a:t>
            </a:r>
            <a:endParaRPr lang="en-US" sz="1050" dirty="0"/>
          </a:p>
        </p:txBody>
      </p:sp>
      <p:sp>
        <p:nvSpPr>
          <p:cNvPr id="9" name="Shape 7"/>
          <p:cNvSpPr/>
          <p:nvPr/>
        </p:nvSpPr>
        <p:spPr>
          <a:xfrm>
            <a:off x="3474720" y="1783080"/>
            <a:ext cx="2697480" cy="502920"/>
          </a:xfrm>
          <a:prstGeom prst="roundRect">
            <a:avLst>
              <a:gd name="adj" fmla="val 10909"/>
            </a:avLst>
          </a:prstGeom>
          <a:solidFill>
            <a:srgbClr val="D99A00"/>
          </a:solidFill>
          <a:ln/>
        </p:spPr>
        <p:txBody>
          <a:bodyPr/>
          <a:lstStyle/>
          <a:p>
            <a:endParaRPr lang="es-MX"/>
          </a:p>
        </p:txBody>
      </p:sp>
      <p:sp>
        <p:nvSpPr>
          <p:cNvPr id="10" name="Text 8"/>
          <p:cNvSpPr/>
          <p:nvPr/>
        </p:nvSpPr>
        <p:spPr>
          <a:xfrm>
            <a:off x="3474720" y="1783080"/>
            <a:ext cx="269748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CORTO PLAZO</a:t>
            </a:r>
            <a:endParaRPr lang="en-US" sz="1200" dirty="0"/>
          </a:p>
        </p:txBody>
      </p:sp>
      <p:sp>
        <p:nvSpPr>
          <p:cNvPr id="11" name="Text 9"/>
          <p:cNvSpPr/>
          <p:nvPr/>
        </p:nvSpPr>
        <p:spPr>
          <a:xfrm>
            <a:off x="3474720" y="2350008"/>
            <a:ext cx="2697480" cy="274320"/>
          </a:xfrm>
          <a:prstGeom prst="rect">
            <a:avLst/>
          </a:prstGeom>
          <a:noFill/>
          <a:ln/>
        </p:spPr>
        <p:txBody>
          <a:bodyPr wrap="square" lIns="0" tIns="0" rIns="0" bIns="0" rtlCol="0" anchor="ctr"/>
          <a:lstStyle/>
          <a:p>
            <a:pPr marL="0" indent="0" algn="ctr">
              <a:buNone/>
            </a:pPr>
            <a:r>
              <a:rPr lang="en-US" sz="1000" i="1" dirty="0">
                <a:solidFill>
                  <a:srgbClr val="8A9BC4"/>
                </a:solidFill>
                <a:latin typeface="Calibri" pitchFamily="34" charset="0"/>
                <a:ea typeface="Calibri" pitchFamily="34" charset="-122"/>
                <a:cs typeface="Calibri" pitchFamily="34" charset="-120"/>
              </a:rPr>
              <a:t>1–2 semanas</a:t>
            </a:r>
            <a:endParaRPr lang="en-US" sz="1000" dirty="0"/>
          </a:p>
        </p:txBody>
      </p:sp>
      <p:sp>
        <p:nvSpPr>
          <p:cNvPr id="12" name="Shape 10"/>
          <p:cNvSpPr/>
          <p:nvPr/>
        </p:nvSpPr>
        <p:spPr>
          <a:xfrm>
            <a:off x="3474720" y="2697480"/>
            <a:ext cx="2697480" cy="3108960"/>
          </a:xfrm>
          <a:prstGeom prst="roundRect">
            <a:avLst>
              <a:gd name="adj" fmla="val 2034"/>
            </a:avLst>
          </a:prstGeom>
          <a:solidFill>
            <a:srgbClr val="EEF1FB"/>
          </a:solidFill>
          <a:ln/>
        </p:spPr>
        <p:txBody>
          <a:bodyPr/>
          <a:lstStyle/>
          <a:p>
            <a:endParaRPr lang="es-MX"/>
          </a:p>
        </p:txBody>
      </p:sp>
      <p:sp>
        <p:nvSpPr>
          <p:cNvPr id="13" name="Text 11"/>
          <p:cNvSpPr/>
          <p:nvPr/>
        </p:nvSpPr>
        <p:spPr>
          <a:xfrm>
            <a:off x="3639312" y="2880360"/>
            <a:ext cx="2368296" cy="2743200"/>
          </a:xfrm>
          <a:prstGeom prst="rect">
            <a:avLst/>
          </a:prstGeom>
          <a:noFill/>
          <a:ln/>
        </p:spPr>
        <p:txBody>
          <a:bodyPr wrap="square" lIns="0" tIns="0" rIns="0" bIns="0" rtlCol="0" anchor="ctr"/>
          <a:lstStyle/>
          <a:p>
            <a:pPr marL="342900" indent="-342900">
              <a:lnSpc>
                <a:spcPct val="125000"/>
              </a:lnSpc>
              <a:spcAft>
                <a:spcPts val="800"/>
              </a:spcAft>
              <a:buSzPct val="100000"/>
              <a:buChar char="▪"/>
            </a:pPr>
            <a:r>
              <a:rPr lang="en-US" sz="1050" dirty="0">
                <a:solidFill>
                  <a:srgbClr val="1E2761"/>
                </a:solidFill>
                <a:latin typeface="Calibri" pitchFamily="34" charset="0"/>
                <a:ea typeface="Calibri" pitchFamily="34" charset="-122"/>
                <a:cs typeface="Calibri" pitchFamily="34" charset="-120"/>
              </a:rPr>
              <a:t>Restringir permisos de escritura FTP/SMB</a:t>
            </a:r>
            <a:endParaRPr lang="en-US" sz="1050" dirty="0"/>
          </a:p>
          <a:p>
            <a:pPr marL="342900" indent="-342900">
              <a:lnSpc>
                <a:spcPct val="125000"/>
              </a:lnSpc>
              <a:spcAft>
                <a:spcPts val="800"/>
              </a:spcAft>
              <a:buSzPct val="100000"/>
              <a:buChar char="▪"/>
            </a:pPr>
            <a:r>
              <a:rPr lang="en-US" sz="1050" dirty="0">
                <a:solidFill>
                  <a:srgbClr val="1E2761"/>
                </a:solidFill>
                <a:latin typeface="Calibri" pitchFamily="34" charset="0"/>
                <a:ea typeface="Calibri" pitchFamily="34" charset="-122"/>
                <a:cs typeface="Calibri" pitchFamily="34" charset="-120"/>
              </a:rPr>
              <a:t>Deshabilitar FTP anónimo; política de contraseñas</a:t>
            </a:r>
            <a:endParaRPr lang="en-US" sz="1050" dirty="0"/>
          </a:p>
        </p:txBody>
      </p:sp>
      <p:sp>
        <p:nvSpPr>
          <p:cNvPr id="14" name="Shape 12"/>
          <p:cNvSpPr/>
          <p:nvPr/>
        </p:nvSpPr>
        <p:spPr>
          <a:xfrm>
            <a:off x="6400800" y="1783080"/>
            <a:ext cx="2697480" cy="502920"/>
          </a:xfrm>
          <a:prstGeom prst="roundRect">
            <a:avLst>
              <a:gd name="adj" fmla="val 10909"/>
            </a:avLst>
          </a:prstGeom>
          <a:solidFill>
            <a:srgbClr val="3B4C86"/>
          </a:solidFill>
          <a:ln/>
        </p:spPr>
        <p:txBody>
          <a:bodyPr/>
          <a:lstStyle/>
          <a:p>
            <a:endParaRPr lang="es-MX"/>
          </a:p>
        </p:txBody>
      </p:sp>
      <p:sp>
        <p:nvSpPr>
          <p:cNvPr id="15" name="Text 13"/>
          <p:cNvSpPr/>
          <p:nvPr/>
        </p:nvSpPr>
        <p:spPr>
          <a:xfrm>
            <a:off x="6400800" y="1783080"/>
            <a:ext cx="269748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MEDIANO PLAZO</a:t>
            </a:r>
            <a:endParaRPr lang="en-US" sz="1200" dirty="0"/>
          </a:p>
        </p:txBody>
      </p:sp>
      <p:sp>
        <p:nvSpPr>
          <p:cNvPr id="16" name="Text 14"/>
          <p:cNvSpPr/>
          <p:nvPr/>
        </p:nvSpPr>
        <p:spPr>
          <a:xfrm>
            <a:off x="6400800" y="2350008"/>
            <a:ext cx="2697480" cy="274320"/>
          </a:xfrm>
          <a:prstGeom prst="rect">
            <a:avLst/>
          </a:prstGeom>
          <a:noFill/>
          <a:ln/>
        </p:spPr>
        <p:txBody>
          <a:bodyPr wrap="square" lIns="0" tIns="0" rIns="0" bIns="0" rtlCol="0" anchor="ctr"/>
          <a:lstStyle/>
          <a:p>
            <a:pPr marL="0" indent="0" algn="ctr">
              <a:buNone/>
            </a:pPr>
            <a:r>
              <a:rPr lang="en-US" sz="1000" i="1" dirty="0">
                <a:solidFill>
                  <a:srgbClr val="8A9BC4"/>
                </a:solidFill>
                <a:latin typeface="Calibri" pitchFamily="34" charset="0"/>
                <a:ea typeface="Calibri" pitchFamily="34" charset="-122"/>
                <a:cs typeface="Calibri" pitchFamily="34" charset="-120"/>
              </a:rPr>
              <a:t>2–4 semanas</a:t>
            </a:r>
            <a:endParaRPr lang="en-US" sz="1000" dirty="0"/>
          </a:p>
        </p:txBody>
      </p:sp>
      <p:sp>
        <p:nvSpPr>
          <p:cNvPr id="17" name="Shape 15"/>
          <p:cNvSpPr/>
          <p:nvPr/>
        </p:nvSpPr>
        <p:spPr>
          <a:xfrm>
            <a:off x="6400800" y="2697480"/>
            <a:ext cx="2697480" cy="3108960"/>
          </a:xfrm>
          <a:prstGeom prst="roundRect">
            <a:avLst>
              <a:gd name="adj" fmla="val 2034"/>
            </a:avLst>
          </a:prstGeom>
          <a:solidFill>
            <a:srgbClr val="EEF1FB"/>
          </a:solidFill>
          <a:ln/>
        </p:spPr>
        <p:txBody>
          <a:bodyPr/>
          <a:lstStyle/>
          <a:p>
            <a:endParaRPr lang="es-MX"/>
          </a:p>
        </p:txBody>
      </p:sp>
      <p:sp>
        <p:nvSpPr>
          <p:cNvPr id="18" name="Text 16"/>
          <p:cNvSpPr/>
          <p:nvPr/>
        </p:nvSpPr>
        <p:spPr>
          <a:xfrm>
            <a:off x="6565392" y="2880360"/>
            <a:ext cx="2368296" cy="2743200"/>
          </a:xfrm>
          <a:prstGeom prst="rect">
            <a:avLst/>
          </a:prstGeom>
          <a:noFill/>
          <a:ln/>
        </p:spPr>
        <p:txBody>
          <a:bodyPr wrap="square" lIns="0" tIns="0" rIns="0" bIns="0" rtlCol="0" anchor="ctr"/>
          <a:lstStyle/>
          <a:p>
            <a:pPr marL="342900" indent="-342900">
              <a:lnSpc>
                <a:spcPct val="125000"/>
              </a:lnSpc>
              <a:spcAft>
                <a:spcPts val="800"/>
              </a:spcAft>
              <a:buSzPct val="100000"/>
              <a:buChar char="▪"/>
            </a:pPr>
            <a:r>
              <a:rPr lang="en-US" sz="1050" dirty="0">
                <a:solidFill>
                  <a:srgbClr val="1E2761"/>
                </a:solidFill>
                <a:latin typeface="Calibri" pitchFamily="34" charset="0"/>
                <a:ea typeface="Calibri" pitchFamily="34" charset="-122"/>
                <a:cs typeface="Calibri" pitchFamily="34" charset="-120"/>
              </a:rPr>
              <a:t>Deshabilitar método TRACE en Apache</a:t>
            </a:r>
            <a:endParaRPr lang="en-US" sz="1050" dirty="0"/>
          </a:p>
          <a:p>
            <a:pPr marL="342900" indent="-342900">
              <a:lnSpc>
                <a:spcPct val="125000"/>
              </a:lnSpc>
              <a:spcAft>
                <a:spcPts val="800"/>
              </a:spcAft>
              <a:buSzPct val="100000"/>
              <a:buChar char="▪"/>
            </a:pPr>
            <a:r>
              <a:rPr lang="en-US" sz="1050" dirty="0">
                <a:solidFill>
                  <a:srgbClr val="1E2761"/>
                </a:solidFill>
                <a:latin typeface="Calibri" pitchFamily="34" charset="0"/>
                <a:ea typeface="Calibri" pitchFamily="34" charset="-122"/>
                <a:cs typeface="Calibri" pitchFamily="34" charset="-120"/>
              </a:rPr>
              <a:t>Desplegar cabeceras de seguridad HTTP</a:t>
            </a:r>
            <a:endParaRPr lang="en-US" sz="1050" dirty="0"/>
          </a:p>
        </p:txBody>
      </p:sp>
      <p:sp>
        <p:nvSpPr>
          <p:cNvPr id="19" name="Shape 17"/>
          <p:cNvSpPr/>
          <p:nvPr/>
        </p:nvSpPr>
        <p:spPr>
          <a:xfrm>
            <a:off x="9326880" y="1783080"/>
            <a:ext cx="2697480" cy="502920"/>
          </a:xfrm>
          <a:prstGeom prst="roundRect">
            <a:avLst>
              <a:gd name="adj" fmla="val 10909"/>
            </a:avLst>
          </a:prstGeom>
          <a:solidFill>
            <a:srgbClr val="8A9BC4"/>
          </a:solidFill>
          <a:ln/>
        </p:spPr>
        <p:txBody>
          <a:bodyPr/>
          <a:lstStyle/>
          <a:p>
            <a:endParaRPr lang="es-MX"/>
          </a:p>
        </p:txBody>
      </p:sp>
      <p:sp>
        <p:nvSpPr>
          <p:cNvPr id="20" name="Text 18"/>
          <p:cNvSpPr/>
          <p:nvPr/>
        </p:nvSpPr>
        <p:spPr>
          <a:xfrm>
            <a:off x="9326880" y="1783080"/>
            <a:ext cx="269748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LARGO PLAZO</a:t>
            </a:r>
            <a:endParaRPr lang="en-US" sz="1200" dirty="0"/>
          </a:p>
        </p:txBody>
      </p:sp>
      <p:sp>
        <p:nvSpPr>
          <p:cNvPr id="21" name="Text 19"/>
          <p:cNvSpPr/>
          <p:nvPr/>
        </p:nvSpPr>
        <p:spPr>
          <a:xfrm>
            <a:off x="9326880" y="2350008"/>
            <a:ext cx="2697480" cy="274320"/>
          </a:xfrm>
          <a:prstGeom prst="rect">
            <a:avLst/>
          </a:prstGeom>
          <a:noFill/>
          <a:ln/>
        </p:spPr>
        <p:txBody>
          <a:bodyPr wrap="square" lIns="0" tIns="0" rIns="0" bIns="0" rtlCol="0" anchor="ctr"/>
          <a:lstStyle/>
          <a:p>
            <a:pPr marL="0" indent="0" algn="ctr">
              <a:buNone/>
            </a:pPr>
            <a:r>
              <a:rPr lang="en-US" sz="1000" i="1" dirty="0">
                <a:solidFill>
                  <a:srgbClr val="8A9BC4"/>
                </a:solidFill>
                <a:latin typeface="Calibri" pitchFamily="34" charset="0"/>
                <a:ea typeface="Calibri" pitchFamily="34" charset="-122"/>
                <a:cs typeface="Calibri" pitchFamily="34" charset="-120"/>
              </a:rPr>
              <a:t>1–3 meses+</a:t>
            </a:r>
            <a:endParaRPr lang="en-US" sz="1000" dirty="0"/>
          </a:p>
        </p:txBody>
      </p:sp>
      <p:sp>
        <p:nvSpPr>
          <p:cNvPr id="22" name="Shape 20"/>
          <p:cNvSpPr/>
          <p:nvPr/>
        </p:nvSpPr>
        <p:spPr>
          <a:xfrm>
            <a:off x="9326880" y="2697480"/>
            <a:ext cx="2697480" cy="3108960"/>
          </a:xfrm>
          <a:prstGeom prst="roundRect">
            <a:avLst>
              <a:gd name="adj" fmla="val 2034"/>
            </a:avLst>
          </a:prstGeom>
          <a:solidFill>
            <a:srgbClr val="EEF1FB"/>
          </a:solidFill>
          <a:ln/>
        </p:spPr>
        <p:txBody>
          <a:bodyPr/>
          <a:lstStyle/>
          <a:p>
            <a:endParaRPr lang="es-MX"/>
          </a:p>
        </p:txBody>
      </p:sp>
      <p:sp>
        <p:nvSpPr>
          <p:cNvPr id="23" name="Text 21"/>
          <p:cNvSpPr/>
          <p:nvPr/>
        </p:nvSpPr>
        <p:spPr>
          <a:xfrm>
            <a:off x="9491472" y="2880360"/>
            <a:ext cx="2368296" cy="2743200"/>
          </a:xfrm>
          <a:prstGeom prst="rect">
            <a:avLst/>
          </a:prstGeom>
          <a:noFill/>
          <a:ln/>
        </p:spPr>
        <p:txBody>
          <a:bodyPr wrap="square" lIns="0" tIns="0" rIns="0" bIns="0" rtlCol="0" anchor="ctr"/>
          <a:lstStyle/>
          <a:p>
            <a:pPr marL="342900" indent="-342900">
              <a:lnSpc>
                <a:spcPct val="125000"/>
              </a:lnSpc>
              <a:spcAft>
                <a:spcPts val="800"/>
              </a:spcAft>
              <a:buSzPct val="100000"/>
              <a:buChar char="▪"/>
            </a:pPr>
            <a:r>
              <a:rPr lang="en-US" sz="1050" dirty="0">
                <a:solidFill>
                  <a:srgbClr val="1E2761"/>
                </a:solidFill>
                <a:latin typeface="Calibri" pitchFamily="34" charset="0"/>
                <a:ea typeface="Calibri" pitchFamily="34" charset="-122"/>
                <a:cs typeface="Calibri" pitchFamily="34" charset="-120"/>
              </a:rPr>
              <a:t>Segmentación de red (VLANs/firewalls)</a:t>
            </a:r>
            <a:endParaRPr lang="en-US" sz="1050" dirty="0"/>
          </a:p>
          <a:p>
            <a:pPr marL="342900" indent="-342900">
              <a:lnSpc>
                <a:spcPct val="125000"/>
              </a:lnSpc>
              <a:spcAft>
                <a:spcPts val="800"/>
              </a:spcAft>
              <a:buSzPct val="100000"/>
              <a:buChar char="▪"/>
            </a:pPr>
            <a:r>
              <a:rPr lang="en-US" sz="1050" dirty="0">
                <a:solidFill>
                  <a:srgbClr val="1E2761"/>
                </a:solidFill>
                <a:latin typeface="Calibri" pitchFamily="34" charset="0"/>
                <a:ea typeface="Calibri" pitchFamily="34" charset="-122"/>
                <a:cs typeface="Calibri" pitchFamily="34" charset="-120"/>
              </a:rPr>
              <a:t>Programa recurrente de patch management</a:t>
            </a:r>
            <a:endParaRPr lang="en-US" sz="1050" dirty="0"/>
          </a:p>
        </p:txBody>
      </p:sp>
      <p:sp>
        <p:nvSpPr>
          <p:cNvPr id="25" name="Slide Number Placeholder 0"/>
          <p:cNvSpPr>
            <a:spLocks noGrp="1"/>
          </p:cNvSpPr>
          <p:nvPr>
            <p:ph type="sldNum" sz="quarter" idx="4294967295"/>
          </p:nvPr>
        </p:nvSpPr>
        <p:spPr>
          <a:xfrm>
            <a:off x="1152144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BC4"/>
                </a:solidFill>
                <a:latin typeface="Calibri"/>
                <a:ea typeface="Calibri"/>
                <a:cs typeface="Calibri"/>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22960" y="1005840"/>
            <a:ext cx="9144000" cy="365760"/>
          </a:xfrm>
          <a:prstGeom prst="rect">
            <a:avLst/>
          </a:prstGeom>
          <a:noFill/>
          <a:ln/>
        </p:spPr>
        <p:txBody>
          <a:bodyPr wrap="square" lIns="0" tIns="0" rIns="0" bIns="0" rtlCol="0" anchor="ctr"/>
          <a:lstStyle/>
          <a:p>
            <a:pPr marL="0" indent="0">
              <a:buNone/>
            </a:pPr>
            <a:r>
              <a:rPr lang="en-US" sz="1300" b="1" kern="0" spc="150" dirty="0">
                <a:solidFill>
                  <a:srgbClr val="CADCFC"/>
                </a:solidFill>
                <a:latin typeface="Calibri" pitchFamily="34" charset="0"/>
                <a:ea typeface="Calibri" pitchFamily="34" charset="-122"/>
                <a:cs typeface="Calibri" pitchFamily="34" charset="-120"/>
              </a:rPr>
              <a:t>CONCLUSIÓN EJECUTIVA</a:t>
            </a:r>
            <a:endParaRPr lang="en-US" sz="1300" dirty="0"/>
          </a:p>
        </p:txBody>
      </p:sp>
      <p:sp>
        <p:nvSpPr>
          <p:cNvPr id="3" name="Text 1"/>
          <p:cNvSpPr/>
          <p:nvPr/>
        </p:nvSpPr>
        <p:spPr>
          <a:xfrm>
            <a:off x="822960" y="1463040"/>
            <a:ext cx="10515600" cy="1188720"/>
          </a:xfrm>
          <a:prstGeom prst="rect">
            <a:avLst/>
          </a:prstGeom>
          <a:noFill/>
          <a:ln/>
        </p:spPr>
        <p:txBody>
          <a:bodyPr wrap="square" lIns="0" tIns="0" rIns="0" bIns="0" rtlCol="0" anchor="ctr"/>
          <a:lstStyle/>
          <a:p>
            <a:pPr marL="0" indent="0">
              <a:lnSpc>
                <a:spcPct val="120000"/>
              </a:lnSpc>
              <a:buNone/>
            </a:pPr>
            <a:r>
              <a:rPr lang="en-US" sz="2200" b="1" dirty="0">
                <a:solidFill>
                  <a:srgbClr val="FFFFFF"/>
                </a:solidFill>
                <a:latin typeface="Cambria" pitchFamily="34" charset="0"/>
                <a:ea typeface="Cambria" pitchFamily="34" charset="-122"/>
                <a:cs typeface="Cambria" pitchFamily="34" charset="-120"/>
              </a:rPr>
              <a:t>Debilidades aparentemente menores —acceso anónimo, falta de control de permisos y la exposición accidental de una credencial— se combinaron para habilitar el compromiso total del sistema.</a:t>
            </a:r>
            <a:endParaRPr lang="en-US" sz="2200" dirty="0"/>
          </a:p>
        </p:txBody>
      </p:sp>
      <p:sp>
        <p:nvSpPr>
          <p:cNvPr id="4" name="Text 2"/>
          <p:cNvSpPr/>
          <p:nvPr/>
        </p:nvSpPr>
        <p:spPr>
          <a:xfrm>
            <a:off x="822960" y="2788920"/>
            <a:ext cx="10515600" cy="1005840"/>
          </a:xfrm>
          <a:prstGeom prst="rect">
            <a:avLst/>
          </a:prstGeom>
          <a:noFill/>
          <a:ln/>
        </p:spPr>
        <p:txBody>
          <a:bodyPr wrap="square" lIns="0" tIns="0" rIns="0" bIns="0" rtlCol="0" anchor="ctr"/>
          <a:lstStyle/>
          <a:p>
            <a:pPr marL="0" indent="0">
              <a:lnSpc>
                <a:spcPct val="130000"/>
              </a:lnSpc>
              <a:buNone/>
            </a:pPr>
            <a:r>
              <a:rPr lang="en-US" sz="1300" dirty="0">
                <a:solidFill>
                  <a:srgbClr val="CADCFC"/>
                </a:solidFill>
                <a:latin typeface="Calibri" pitchFamily="34" charset="0"/>
                <a:ea typeface="Calibri" pitchFamily="34" charset="-122"/>
                <a:cs typeface="Calibri" pitchFamily="34" charset="-120"/>
              </a:rPr>
              <a:t>CVE-2016-5195 (Dirty COW) no es una vulnerabilidad nueva: es una falla de kernel conocida desde 2016, con parches disponibles desde su divulgación. Su explotación exitosa es, ante todo, síntoma de una gestión de parches deficiente — no una demostración de técnicas ofensivas novedosas.</a:t>
            </a:r>
            <a:endParaRPr lang="en-US" sz="1300" dirty="0"/>
          </a:p>
        </p:txBody>
      </p:sp>
      <p:sp>
        <p:nvSpPr>
          <p:cNvPr id="5" name="Shape 3"/>
          <p:cNvSpPr/>
          <p:nvPr/>
        </p:nvSpPr>
        <p:spPr>
          <a:xfrm>
            <a:off x="822960" y="4023360"/>
            <a:ext cx="10515600" cy="1600200"/>
          </a:xfrm>
          <a:prstGeom prst="roundRect">
            <a:avLst>
              <a:gd name="adj" fmla="val 4571"/>
            </a:avLst>
          </a:prstGeom>
          <a:solidFill>
            <a:srgbClr val="1E2761"/>
          </a:solidFill>
          <a:ln w="12700">
            <a:solidFill>
              <a:srgbClr val="C1272D"/>
            </a:solidFill>
            <a:prstDash val="solid"/>
          </a:ln>
        </p:spPr>
        <p:txBody>
          <a:bodyPr/>
          <a:lstStyle/>
          <a:p>
            <a:endParaRPr lang="es-MX"/>
          </a:p>
        </p:txBody>
      </p:sp>
      <p:sp>
        <p:nvSpPr>
          <p:cNvPr id="6" name="Text 4"/>
          <p:cNvSpPr/>
          <p:nvPr/>
        </p:nvSpPr>
        <p:spPr>
          <a:xfrm>
            <a:off x="1097280" y="4206240"/>
            <a:ext cx="10058400" cy="274320"/>
          </a:xfrm>
          <a:prstGeom prst="rect">
            <a:avLst/>
          </a:prstGeom>
          <a:noFill/>
          <a:ln/>
        </p:spPr>
        <p:txBody>
          <a:bodyPr wrap="square" lIns="0" tIns="0" rIns="0" bIns="0" rtlCol="0" anchor="ctr"/>
          <a:lstStyle/>
          <a:p>
            <a:pPr marL="0" indent="0">
              <a:buNone/>
            </a:pPr>
            <a:r>
              <a:rPr lang="en-US" sz="1050" b="1" kern="0" spc="100" dirty="0">
                <a:solidFill>
                  <a:srgbClr val="C1272D"/>
                </a:solidFill>
                <a:latin typeface="Calibri" pitchFamily="34" charset="0"/>
                <a:ea typeface="Calibri" pitchFamily="34" charset="-122"/>
                <a:cs typeface="Calibri" pitchFamily="34" charset="-120"/>
              </a:rPr>
              <a:t>PRIORIDAD INMEDIATA PARA EL CONSEJO DIRECTIVO</a:t>
            </a:r>
            <a:endParaRPr lang="en-US" sz="1050" dirty="0"/>
          </a:p>
        </p:txBody>
      </p:sp>
      <p:sp>
        <p:nvSpPr>
          <p:cNvPr id="7" name="Text 5"/>
          <p:cNvSpPr/>
          <p:nvPr/>
        </p:nvSpPr>
        <p:spPr>
          <a:xfrm>
            <a:off x="1097280" y="4526280"/>
            <a:ext cx="10058400" cy="1005840"/>
          </a:xfrm>
          <a:prstGeom prst="rect">
            <a:avLst/>
          </a:prstGeom>
          <a:noFill/>
          <a:ln/>
        </p:spPr>
        <p:txBody>
          <a:bodyPr wrap="square" lIns="0" tIns="0" rIns="0" bIns="0" rtlCol="0" anchor="ctr"/>
          <a:lstStyle/>
          <a:p>
            <a:pPr marL="0" indent="0">
              <a:lnSpc>
                <a:spcPct val="130000"/>
              </a:lnSpc>
              <a:buNone/>
            </a:pPr>
            <a:r>
              <a:rPr lang="en-US" sz="1350" dirty="0">
                <a:solidFill>
                  <a:srgbClr val="FFFFFF"/>
                </a:solidFill>
                <a:latin typeface="Calibri" pitchFamily="34" charset="0"/>
                <a:ea typeface="Calibri" pitchFamily="34" charset="-122"/>
                <a:cs typeface="Calibri" pitchFamily="34" charset="-120"/>
              </a:rPr>
              <a:t>Parchar el kernel (F-05) y eliminar la fuga de credenciales (F-03), seguido de la implementación del plan de remediación completo para reducir la superficie de exposición ante actores de amenaza reales.</a:t>
            </a:r>
            <a:endParaRPr lang="en-US" sz="135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BC4"/>
                </a:solidFill>
                <a:latin typeface="Calibri"/>
                <a:ea typeface="Calibri"/>
                <a:cs typeface="Calibri"/>
              </a:defRPr>
            </a:lvl1pPr>
          </a:lstStyle>
          <a:p>
            <a:pPr algn="l"/>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RedTeamReport">
  <a:themeElements>
    <a:clrScheme name="RedTeamReport">
      <a:dk1>
        <a:srgbClr val="1E2761"/>
      </a:dk1>
      <a:lt1>
        <a:srgbClr val="FFFFFF"/>
      </a:lt1>
      <a:dk2>
        <a:srgbClr val="0D1333"/>
      </a:dk2>
      <a:lt2>
        <a:srgbClr val="EEF1FB"/>
      </a:lt2>
      <a:accent1>
        <a:srgbClr val="C1272D"/>
      </a:accent1>
      <a:accent2>
        <a:srgbClr val="3B4C86"/>
      </a:accent2>
      <a:accent3>
        <a:srgbClr val="00A896"/>
      </a:accent3>
      <a:accent4>
        <a:srgbClr val="D99A00"/>
      </a:accent4>
      <a:accent5>
        <a:srgbClr val="8A9BC4"/>
      </a:accent5>
      <a:accent6>
        <a:srgbClr val="CADCFC"/>
      </a:accent6>
      <a:hlink>
        <a:srgbClr val="3B4C86"/>
      </a:hlink>
      <a:folHlink>
        <a:srgbClr val="8A9BC4"/>
      </a:folHlink>
    </a:clrScheme>
    <a:fontScheme name="RedTeamReport">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1005</Words>
  <Application>Microsoft Office PowerPoint</Application>
  <PresentationFormat>Panorámica</PresentationFormat>
  <Paragraphs>185</Paragraphs>
  <Slides>10</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Calibri</vt:lpstr>
      <vt:lpstr>Cambria</vt:lpstr>
      <vt:lpstr>RedTeamReport</vt:lpstr>
      <vt:lpstr>Presentación de PowerPoint</vt:lpstr>
      <vt:lpstr>Contexto del Engagement</vt:lpstr>
      <vt:lpstr>Metodología Aplicada</vt:lpstr>
      <vt:lpstr>Presentación de PowerPoint</vt:lpstr>
      <vt:lpstr>Hallazgos Críticos</vt:lpstr>
      <vt:lpstr>Escenario del Impacto Empresarial</vt:lpstr>
      <vt:lpstr>Matriz de Riesgo</vt:lpstr>
      <vt:lpstr>Recomendaciones Estratégicas</vt:lpstr>
      <vt:lpstr>Roadmap de Remediación</vt:lpstr>
      <vt:lpstr>Presentación de PowerPoint</vt:lpstr>
    </vt:vector>
  </TitlesOfParts>
  <Company>UPSLP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Manuel Hernández</cp:lastModifiedBy>
  <cp:revision>2</cp:revision>
  <dcterms:created xsi:type="dcterms:W3CDTF">2026-10-02T03:45:55Z</dcterms:created>
  <dcterms:modified xsi:type="dcterms:W3CDTF">2026-10-02T03:51:34Z</dcterms:modified>
</cp:coreProperties>
</file>